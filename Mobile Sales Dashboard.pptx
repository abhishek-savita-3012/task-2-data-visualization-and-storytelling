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-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210AA8-CFEA-4988-B321-0BA7A9C376D7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87EAA9-A82D-4998-B848-F555FC92C5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679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9D837-4CD0-4189-8A48-7291307207DD}" type="datetime1">
              <a:rPr lang="en-IN" smtClean="0"/>
              <a:t>30-05-2026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2487A-F0D9-469C-B4EE-DBC3D7836B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5142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EA71-553E-4FC0-A8C8-E3E7A11882F1}" type="datetime1">
              <a:rPr lang="en-IN" smtClean="0"/>
              <a:t>30-05-2026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2487A-F0D9-469C-B4EE-DBC3D7836B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209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7EA46-54BB-4305-899A-C87A7680A307}" type="datetime1">
              <a:rPr lang="en-IN" smtClean="0"/>
              <a:t>30-05-2026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2487A-F0D9-469C-B4EE-DBC3D7836B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1391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B58BD-46AB-499A-8C5C-F61BC5685514}" type="datetime1">
              <a:rPr lang="en-IN" smtClean="0"/>
              <a:t>30-05-2026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2487A-F0D9-469C-B4EE-DBC3D7836B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2770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7E45B-EA44-4124-9653-FBC492E766A1}" type="datetime1">
              <a:rPr lang="en-IN" smtClean="0"/>
              <a:t>30-05-2026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2487A-F0D9-469C-B4EE-DBC3D7836BF9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193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69499-48A8-4C31-8743-AF87E824A68F}" type="datetime1">
              <a:rPr lang="en-IN" smtClean="0"/>
              <a:t>30-05-2026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2487A-F0D9-469C-B4EE-DBC3D7836B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2141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48329-7DA6-4815-BD8C-A1A2589CB735}" type="datetime1">
              <a:rPr lang="en-IN" smtClean="0"/>
              <a:t>30-05-2026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2487A-F0D9-469C-B4EE-DBC3D7836B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6563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45B3F-06C1-49F3-AA23-A2E490419A79}" type="datetime1">
              <a:rPr lang="en-IN" smtClean="0"/>
              <a:t>30-05-2026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2487A-F0D9-469C-B4EE-DBC3D7836B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435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4A49A019-BA8E-487A-B59C-038B77684259}" type="datetime1">
              <a:rPr lang="en-IN" smtClean="0"/>
              <a:t>30-05-2026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2487A-F0D9-469C-B4EE-DBC3D7836B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7595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9789A-F850-4B45-96F5-8C2CA0B7AEBF}" type="datetime1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2487A-F0D9-469C-B4EE-DBC3D7836B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800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29B7F-451D-4E7B-991B-24CA582BEF1C}" type="datetime1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2487A-F0D9-469C-B4EE-DBC3D7836B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6559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75C2EF90-283E-4F29-BAF2-7358C692E196}" type="datetime1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1A2487A-F0D9-469C-B4EE-DBC3D7836B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485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edin.com/in/abhishek-savita-b41961276" TargetMode="External"/><Relationship Id="rId2" Type="http://schemas.openxmlformats.org/officeDocument/2006/relationships/hyperlink" Target="mailto:asavita3012@gmail.com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Abhishek-Savita-301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5047C-7AE9-A487-9ACF-2B616251F8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3255962"/>
          </a:xfrm>
        </p:spPr>
        <p:txBody>
          <a:bodyPr>
            <a:normAutofit/>
          </a:bodyPr>
          <a:lstStyle/>
          <a:p>
            <a:r>
              <a:rPr lang="en-IN" sz="4400" b="1" dirty="0">
                <a:latin typeface="Aptos" panose="020B0004020202020204" pitchFamily="34" charset="0"/>
              </a:rPr>
              <a:t>📱 Mobile Sales Dashboard</a:t>
            </a:r>
            <a:br>
              <a:rPr lang="en-IN" sz="4400" b="1" dirty="0">
                <a:latin typeface="Aptos" panose="020B0004020202020204" pitchFamily="34" charset="0"/>
              </a:rPr>
            </a:br>
            <a:r>
              <a:rPr lang="en-IN" sz="4400" b="1" dirty="0">
                <a:latin typeface="Aptos" panose="020B0004020202020204" pitchFamily="34" charset="0"/>
              </a:rPr>
              <a:t>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87C505-9557-6D1E-82D0-308DC69E74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3602038"/>
            <a:ext cx="12192000" cy="3255961"/>
          </a:xfrm>
        </p:spPr>
        <p:txBody>
          <a:bodyPr>
            <a:normAutofit/>
          </a:bodyPr>
          <a:lstStyle/>
          <a:p>
            <a:r>
              <a:rPr lang="en-US" sz="2000" i="1" dirty="0">
                <a:latin typeface="Aptos" panose="020B0004020202020204" pitchFamily="34" charset="0"/>
              </a:rPr>
              <a:t>Interactive Business Intelligence Dashboard using Power BI</a:t>
            </a:r>
          </a:p>
          <a:p>
            <a:endParaRPr lang="en-US" sz="2000" i="1" dirty="0">
              <a:latin typeface="Aptos" panose="020B0004020202020204" pitchFamily="34" charset="0"/>
            </a:endParaRPr>
          </a:p>
          <a:p>
            <a:r>
              <a:rPr lang="en-US" i="1" dirty="0">
                <a:latin typeface="Aptos" panose="020B0004020202020204" pitchFamily="34" charset="0"/>
              </a:rPr>
              <a:t>Analyzing Revenue, Sales Trends, Customer Transactions, Product Performance, </a:t>
            </a:r>
            <a:r>
              <a:rPr lang="en-US" i="1" dirty="0" err="1">
                <a:latin typeface="Aptos" panose="020B0004020202020204" pitchFamily="34" charset="0"/>
              </a:rPr>
              <a:t>MTD</a:t>
            </a:r>
            <a:r>
              <a:rPr lang="en-US" i="1" dirty="0">
                <a:latin typeface="Aptos" panose="020B0004020202020204" pitchFamily="34" charset="0"/>
              </a:rPr>
              <a:t> &amp; </a:t>
            </a:r>
            <a:r>
              <a:rPr lang="en-US" i="1" dirty="0" err="1">
                <a:latin typeface="Aptos" panose="020B0004020202020204" pitchFamily="34" charset="0"/>
              </a:rPr>
              <a:t>SPLY</a:t>
            </a:r>
            <a:r>
              <a:rPr lang="en-US" i="1" dirty="0">
                <a:latin typeface="Aptos" panose="020B0004020202020204" pitchFamily="34" charset="0"/>
              </a:rPr>
              <a:t> Metrics</a:t>
            </a:r>
          </a:p>
          <a:p>
            <a:pPr algn="r"/>
            <a:endParaRPr lang="en-US" sz="2000" b="1" i="1" dirty="0">
              <a:latin typeface="Aptos" panose="020B0004020202020204" pitchFamily="34" charset="0"/>
            </a:endParaRPr>
          </a:p>
          <a:p>
            <a:pPr algn="r"/>
            <a:endParaRPr lang="en-US" sz="2000" b="1" i="1" dirty="0">
              <a:latin typeface="Aptos" panose="020B0004020202020204" pitchFamily="34" charset="0"/>
            </a:endParaRPr>
          </a:p>
          <a:p>
            <a:pPr algn="r"/>
            <a:endParaRPr lang="en-US" sz="2000" b="1" i="1" dirty="0">
              <a:latin typeface="Aptos" panose="020B0004020202020204" pitchFamily="34" charset="0"/>
            </a:endParaRPr>
          </a:p>
          <a:p>
            <a:pPr algn="r"/>
            <a:r>
              <a:rPr lang="en-US" sz="2000" b="1" i="1" dirty="0">
                <a:latin typeface="Aptos" panose="020B0004020202020204" pitchFamily="34" charset="0"/>
              </a:rPr>
              <a:t>By Abhishek Savita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2511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6932BB-CB30-01A1-FDBA-F3C9C3108E94}"/>
              </a:ext>
            </a:extLst>
          </p:cNvPr>
          <p:cNvSpPr txBox="1"/>
          <p:nvPr/>
        </p:nvSpPr>
        <p:spPr>
          <a:xfrm>
            <a:off x="0" y="19664"/>
            <a:ext cx="12260826" cy="6771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📌 Project Overview</a:t>
            </a:r>
          </a:p>
          <a:p>
            <a:r>
              <a:rPr lang="en-US" sz="1600" b="1" dirty="0"/>
              <a:t>Project Description:</a:t>
            </a:r>
            <a:br>
              <a:rPr lang="en-US" sz="1400" dirty="0"/>
            </a:br>
            <a:r>
              <a:rPr lang="en-US" sz="1400" dirty="0"/>
              <a:t>This project analyzes mobile sales data using Power BI to uncover sales trends, customer behavior, product performance, and revenue insights. Interactive dashboards and </a:t>
            </a:r>
            <a:r>
              <a:rPr lang="en-US" sz="1400" dirty="0" err="1"/>
              <a:t>KPI</a:t>
            </a:r>
            <a:r>
              <a:rPr lang="en-US" sz="1400" dirty="0"/>
              <a:t> monitoring support data-driven business decisions.</a:t>
            </a:r>
          </a:p>
          <a:p>
            <a:br>
              <a:rPr lang="en-US" sz="1400" dirty="0"/>
            </a:br>
            <a:r>
              <a:rPr lang="en-US" sz="1600" b="1" dirty="0"/>
              <a:t>🎯 Objectives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Analyze overall sales performance and key </a:t>
            </a:r>
            <a:r>
              <a:rPr lang="en-US" sz="1400" dirty="0" err="1"/>
              <a:t>KPIs</a:t>
            </a:r>
            <a:r>
              <a:rPr lang="en-US" sz="14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Identify top-performing brands and mobile models.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Understand city-wise and payment-wise sales patterns.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Track Month-to-Date (</a:t>
            </a:r>
            <a:r>
              <a:rPr lang="en-US" sz="1400" dirty="0" err="1"/>
              <a:t>MTD</a:t>
            </a:r>
            <a:r>
              <a:rPr lang="en-US" sz="1400" dirty="0"/>
              <a:t>) performance.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Compare sales with Same Period Last Year (</a:t>
            </a:r>
            <a:r>
              <a:rPr lang="en-US" sz="1400" dirty="0" err="1"/>
              <a:t>SPLY</a:t>
            </a:r>
            <a:r>
              <a:rPr lang="en-US" sz="1400" dirty="0"/>
              <a:t>).</a:t>
            </a:r>
          </a:p>
          <a:p>
            <a:endParaRPr lang="en-IN" sz="1400" dirty="0"/>
          </a:p>
          <a:p>
            <a:r>
              <a:rPr lang="en-IN" sz="1600" b="1" dirty="0"/>
              <a:t>🛠 Tools &amp; Technologies Used</a:t>
            </a:r>
          </a:p>
          <a:p>
            <a:r>
              <a:rPr lang="en-IN" sz="1400" dirty="0"/>
              <a:t>• Power BI</a:t>
            </a:r>
            <a:br>
              <a:rPr lang="en-IN" sz="1400" dirty="0"/>
            </a:br>
            <a:r>
              <a:rPr lang="en-IN" sz="1400" dirty="0"/>
              <a:t>• Microsoft Excel</a:t>
            </a:r>
            <a:br>
              <a:rPr lang="en-IN" sz="1400" dirty="0"/>
            </a:br>
            <a:r>
              <a:rPr lang="en-IN" sz="1400" dirty="0"/>
              <a:t>• Power Query</a:t>
            </a:r>
            <a:br>
              <a:rPr lang="en-IN" sz="1400" dirty="0"/>
            </a:br>
            <a:r>
              <a:rPr lang="en-IN" sz="1400" dirty="0"/>
              <a:t>• DAX (Data Analysis Expressions)</a:t>
            </a:r>
            <a:br>
              <a:rPr lang="en-IN" sz="1400" dirty="0"/>
            </a:br>
            <a:r>
              <a:rPr lang="en-IN" sz="1400" dirty="0"/>
              <a:t>• Data </a:t>
            </a:r>
            <a:r>
              <a:rPr lang="en-IN" sz="1400" dirty="0" err="1"/>
              <a:t>Modeling</a:t>
            </a:r>
            <a:br>
              <a:rPr lang="en-IN" sz="1400" dirty="0"/>
            </a:br>
            <a:r>
              <a:rPr lang="en-IN" sz="1400" dirty="0"/>
              <a:t>• Data Visualization</a:t>
            </a:r>
          </a:p>
          <a:p>
            <a:endParaRPr lang="en-IN" sz="1400" dirty="0"/>
          </a:p>
          <a:p>
            <a:r>
              <a:rPr lang="en-IN" sz="1600" b="1" dirty="0"/>
              <a:t>📊 Dashboard Features</a:t>
            </a:r>
          </a:p>
          <a:p>
            <a:r>
              <a:rPr lang="en-IN" sz="1400" dirty="0"/>
              <a:t>✅ Interactive Filters &amp; Slicers</a:t>
            </a:r>
            <a:br>
              <a:rPr lang="en-IN" sz="1400" dirty="0"/>
            </a:br>
            <a:r>
              <a:rPr lang="en-IN" sz="1400" dirty="0"/>
              <a:t>✅ </a:t>
            </a:r>
            <a:r>
              <a:rPr lang="en-IN" sz="1400" dirty="0" err="1"/>
              <a:t>KPI</a:t>
            </a:r>
            <a:r>
              <a:rPr lang="en-IN" sz="1400" dirty="0"/>
              <a:t> Monitoring</a:t>
            </a:r>
            <a:br>
              <a:rPr lang="en-IN" sz="1400" dirty="0"/>
            </a:br>
            <a:r>
              <a:rPr lang="en-IN" sz="1400" dirty="0"/>
              <a:t>✅ Brand &amp; Product Analysis</a:t>
            </a:r>
            <a:br>
              <a:rPr lang="en-IN" sz="1400" dirty="0"/>
            </a:br>
            <a:r>
              <a:rPr lang="en-IN" sz="1400" dirty="0"/>
              <a:t>✅ City-wise Sales Analysis</a:t>
            </a:r>
            <a:br>
              <a:rPr lang="en-IN" sz="1400" dirty="0"/>
            </a:br>
            <a:r>
              <a:rPr lang="en-IN" sz="1400" dirty="0"/>
              <a:t>✅ Payment Method Analysis</a:t>
            </a:r>
            <a:br>
              <a:rPr lang="en-IN" sz="1400" dirty="0"/>
            </a:br>
            <a:r>
              <a:rPr lang="en-IN" sz="1400" dirty="0"/>
              <a:t>✅ </a:t>
            </a:r>
            <a:r>
              <a:rPr lang="en-IN" sz="1400" dirty="0" err="1"/>
              <a:t>MTD</a:t>
            </a:r>
            <a:r>
              <a:rPr lang="en-IN" sz="1400" dirty="0"/>
              <a:t> &amp; </a:t>
            </a:r>
            <a:r>
              <a:rPr lang="en-IN" sz="1400" dirty="0" err="1"/>
              <a:t>SPLY</a:t>
            </a:r>
            <a:r>
              <a:rPr lang="en-IN" sz="1400" dirty="0"/>
              <a:t> Reporting</a:t>
            </a:r>
          </a:p>
          <a:p>
            <a:endParaRPr lang="en-IN" sz="1400" dirty="0"/>
          </a:p>
          <a:p>
            <a:r>
              <a:rPr lang="en-US" sz="1600" b="1" dirty="0"/>
              <a:t>📈 Expected Outcome</a:t>
            </a:r>
          </a:p>
          <a:p>
            <a:r>
              <a:rPr lang="en-US" sz="1400" dirty="0"/>
              <a:t>Deliver actionable insights into sales performance, customer behavior, and market trends to enable data-driven business decisions and improve business growth.</a:t>
            </a:r>
            <a:endParaRPr lang="en-IN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D4B786-8615-D520-EF5C-0260EFE7F2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4656" y="1718388"/>
            <a:ext cx="7443019" cy="4064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593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3A5AA7-F425-1FA2-2F37-7F445AF26FF2}"/>
              </a:ext>
            </a:extLst>
          </p:cNvPr>
          <p:cNvSpPr txBox="1"/>
          <p:nvPr/>
        </p:nvSpPr>
        <p:spPr>
          <a:xfrm>
            <a:off x="81023" y="367722"/>
            <a:ext cx="11806176" cy="31830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CFD478-BC37-A312-D5D3-EC9F4970635B}"/>
              </a:ext>
            </a:extLst>
          </p:cNvPr>
          <p:cNvSpPr txBox="1"/>
          <p:nvPr/>
        </p:nvSpPr>
        <p:spPr>
          <a:xfrm>
            <a:off x="40512" y="11575"/>
            <a:ext cx="12110976" cy="270843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2000" b="1" dirty="0"/>
              <a:t>📂 Dataset Overview : </a:t>
            </a:r>
          </a:p>
          <a:p>
            <a:endParaRPr lang="en-IN" sz="2000" b="1" dirty="0"/>
          </a:p>
          <a:p>
            <a:r>
              <a:rPr lang="en-IN" sz="1600" b="1" dirty="0"/>
              <a:t>Dataset Description</a:t>
            </a:r>
            <a:br>
              <a:rPr lang="en-IN" sz="1400" dirty="0"/>
            </a:br>
            <a:r>
              <a:rPr lang="en-IN" sz="1400" dirty="0"/>
              <a:t>The dataset contains mobile phone sales transactions across different cities, brands, mobile models, payment methods, and time periods.</a:t>
            </a:r>
          </a:p>
          <a:p>
            <a:endParaRPr lang="en-IN" sz="1400" dirty="0"/>
          </a:p>
          <a:p>
            <a:r>
              <a:rPr lang="en-IN" sz="1600" b="1" dirty="0"/>
              <a:t>Dataset Information</a:t>
            </a:r>
          </a:p>
          <a:p>
            <a:r>
              <a:rPr lang="en-US" sz="1400" dirty="0"/>
              <a:t>Total Transactions: 4,000+</a:t>
            </a:r>
            <a:br>
              <a:rPr lang="en-US" sz="1400" dirty="0"/>
            </a:br>
            <a:r>
              <a:rPr lang="en-US" sz="1400" dirty="0"/>
              <a:t>Total Revenue: ₹</a:t>
            </a:r>
            <a:r>
              <a:rPr lang="en-US" sz="1400" dirty="0" err="1"/>
              <a:t>769M</a:t>
            </a:r>
            <a:br>
              <a:rPr lang="en-US" sz="1400" dirty="0"/>
            </a:br>
            <a:r>
              <a:rPr lang="en-US" sz="1400" dirty="0"/>
              <a:t>Total Units Sold: </a:t>
            </a:r>
            <a:r>
              <a:rPr lang="en-US" sz="1400" dirty="0" err="1"/>
              <a:t>19K</a:t>
            </a:r>
            <a:br>
              <a:rPr lang="en-US" sz="1400" dirty="0"/>
            </a:br>
            <a:r>
              <a:rPr lang="en-US" sz="1400" dirty="0"/>
              <a:t>Average Selling Price: ₹</a:t>
            </a:r>
            <a:r>
              <a:rPr lang="en-US" sz="1400" dirty="0" err="1"/>
              <a:t>40.11K</a:t>
            </a:r>
            <a:br>
              <a:rPr lang="en-US" sz="1400" dirty="0"/>
            </a:br>
            <a:r>
              <a:rPr lang="en-US" sz="1400" dirty="0"/>
              <a:t>Analysis Period: 2021–2024</a:t>
            </a:r>
            <a:endParaRPr lang="en-IN" sz="14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34BFFE9-FAA8-9146-8C6A-6F217B943110}"/>
              </a:ext>
            </a:extLst>
          </p:cNvPr>
          <p:cNvSpPr/>
          <p:nvPr/>
        </p:nvSpPr>
        <p:spPr>
          <a:xfrm>
            <a:off x="185197" y="2914409"/>
            <a:ext cx="3773346" cy="3793121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A50BAE2-18A9-7EA2-022D-D09E8DE3F97F}"/>
              </a:ext>
            </a:extLst>
          </p:cNvPr>
          <p:cNvSpPr/>
          <p:nvPr/>
        </p:nvSpPr>
        <p:spPr>
          <a:xfrm>
            <a:off x="8009681" y="2937558"/>
            <a:ext cx="3773346" cy="3793121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F78F7A8-67C7-C475-6EAC-1C5532C6257D}"/>
              </a:ext>
            </a:extLst>
          </p:cNvPr>
          <p:cNvSpPr/>
          <p:nvPr/>
        </p:nvSpPr>
        <p:spPr>
          <a:xfrm>
            <a:off x="4097439" y="2937558"/>
            <a:ext cx="3773346" cy="3793121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4C1B23-AF51-C7A1-D01D-4FB7565053BD}"/>
              </a:ext>
            </a:extLst>
          </p:cNvPr>
          <p:cNvSpPr txBox="1"/>
          <p:nvPr/>
        </p:nvSpPr>
        <p:spPr>
          <a:xfrm>
            <a:off x="422478" y="3379309"/>
            <a:ext cx="3298784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Key Attributes</a:t>
            </a:r>
          </a:p>
          <a:p>
            <a:pPr algn="ctr"/>
            <a:endParaRPr lang="en-US" sz="1400" b="1" dirty="0"/>
          </a:p>
          <a:p>
            <a:pPr algn="ctr"/>
            <a:r>
              <a:rPr lang="en-US" sz="1400" dirty="0"/>
              <a:t>Transaction ID</a:t>
            </a:r>
          </a:p>
          <a:p>
            <a:pPr algn="ctr"/>
            <a:r>
              <a:rPr lang="en-US" sz="1400" dirty="0"/>
              <a:t>Date</a:t>
            </a:r>
          </a:p>
          <a:p>
            <a:pPr algn="ctr"/>
            <a:r>
              <a:rPr lang="en-US" sz="1400" dirty="0"/>
              <a:t>City</a:t>
            </a:r>
          </a:p>
          <a:p>
            <a:pPr algn="ctr"/>
            <a:r>
              <a:rPr lang="en-US" sz="1400" dirty="0"/>
              <a:t>Brand</a:t>
            </a:r>
          </a:p>
          <a:p>
            <a:pPr algn="ctr"/>
            <a:r>
              <a:rPr lang="en-US" sz="1400" dirty="0"/>
              <a:t>Mobile Model</a:t>
            </a:r>
          </a:p>
          <a:p>
            <a:pPr algn="ctr"/>
            <a:r>
              <a:rPr lang="en-US" sz="1400" dirty="0"/>
              <a:t>Quantity Sold</a:t>
            </a:r>
          </a:p>
          <a:p>
            <a:pPr algn="ctr"/>
            <a:r>
              <a:rPr lang="en-US" sz="1400" dirty="0"/>
              <a:t>Unit Price</a:t>
            </a:r>
          </a:p>
          <a:p>
            <a:pPr algn="ctr"/>
            <a:r>
              <a:rPr lang="en-US" sz="1400" dirty="0"/>
              <a:t>Total Sales</a:t>
            </a:r>
          </a:p>
          <a:p>
            <a:pPr algn="ctr"/>
            <a:r>
              <a:rPr lang="en-US" sz="1400" dirty="0"/>
              <a:t>Payment Method</a:t>
            </a:r>
          </a:p>
          <a:p>
            <a:pPr algn="ctr"/>
            <a:r>
              <a:rPr lang="en-US" sz="1400" dirty="0"/>
              <a:t>Customer Rating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03213C-562A-D6FE-0DF6-ACC5415980C4}"/>
              </a:ext>
            </a:extLst>
          </p:cNvPr>
          <p:cNvSpPr txBox="1"/>
          <p:nvPr/>
        </p:nvSpPr>
        <p:spPr>
          <a:xfrm>
            <a:off x="4207397" y="3810197"/>
            <a:ext cx="3553427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Data Preparation Steps</a:t>
            </a:r>
          </a:p>
          <a:p>
            <a:pPr algn="ctr"/>
            <a:endParaRPr lang="en-US" sz="1400" b="1" dirty="0"/>
          </a:p>
          <a:p>
            <a:pPr algn="ctr"/>
            <a:r>
              <a:rPr lang="en-US" sz="1400" dirty="0"/>
              <a:t>Data Cleaning</a:t>
            </a:r>
          </a:p>
          <a:p>
            <a:pPr algn="ctr"/>
            <a:r>
              <a:rPr lang="en-US" sz="1400" dirty="0"/>
              <a:t>Missing Value Handling</a:t>
            </a:r>
          </a:p>
          <a:p>
            <a:pPr algn="ctr"/>
            <a:r>
              <a:rPr lang="en-US" sz="1400" dirty="0"/>
              <a:t>Data Type Transformation</a:t>
            </a:r>
          </a:p>
          <a:p>
            <a:pPr algn="ctr"/>
            <a:r>
              <a:rPr lang="en-US" sz="1400" dirty="0"/>
              <a:t>Data Modeling</a:t>
            </a:r>
          </a:p>
          <a:p>
            <a:pPr algn="ctr"/>
            <a:r>
              <a:rPr lang="en-US" sz="1400" dirty="0"/>
              <a:t>DAX Measure Creation</a:t>
            </a:r>
          </a:p>
          <a:p>
            <a:pPr algn="ctr"/>
            <a:r>
              <a:rPr lang="en-US" sz="1400" dirty="0"/>
              <a:t>Interactive Dashboard Development</a:t>
            </a:r>
            <a:endParaRPr lang="en-IN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98A615-18DA-C30C-D3AD-1EC3952A25CD}"/>
              </a:ext>
            </a:extLst>
          </p:cNvPr>
          <p:cNvSpPr txBox="1"/>
          <p:nvPr/>
        </p:nvSpPr>
        <p:spPr>
          <a:xfrm>
            <a:off x="8159188" y="3349030"/>
            <a:ext cx="3474332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Business Questions Addressed</a:t>
            </a:r>
          </a:p>
          <a:p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Which brands generate the highest revenue?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Which cities contribute most to sales?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Which payment methods are preferred?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How does sales performance change over time?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How does current performance compare with the previous year?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• Which mobile models contribute most to revenue?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442581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15824B-EA6B-D8A1-4B20-BECE6AF60614}"/>
              </a:ext>
            </a:extLst>
          </p:cNvPr>
          <p:cNvSpPr txBox="1"/>
          <p:nvPr/>
        </p:nvSpPr>
        <p:spPr>
          <a:xfrm>
            <a:off x="0" y="0"/>
            <a:ext cx="121920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📊 </a:t>
            </a:r>
            <a:r>
              <a:rPr lang="en-US" sz="2000" b="1" dirty="0" err="1"/>
              <a:t>KPI</a:t>
            </a:r>
            <a:r>
              <a:rPr lang="en-US" sz="2000" b="1" dirty="0"/>
              <a:t> Summary Dashboard</a:t>
            </a:r>
          </a:p>
          <a:p>
            <a:endParaRPr lang="en-US" sz="1600" b="1" dirty="0"/>
          </a:p>
          <a:p>
            <a:r>
              <a:rPr lang="en-US" sz="1600" b="1" dirty="0"/>
              <a:t>🎯 Key Performance Indicators (</a:t>
            </a:r>
            <a:r>
              <a:rPr lang="en-US" sz="1600" b="1" dirty="0" err="1"/>
              <a:t>KPIs</a:t>
            </a:r>
            <a:r>
              <a:rPr lang="en-US" sz="1600" b="1" dirty="0"/>
              <a:t>)</a:t>
            </a:r>
          </a:p>
          <a:p>
            <a:r>
              <a:rPr lang="en-US" sz="1400" dirty="0"/>
              <a:t>The dashboard provides a high-level overview of mobile sales performance through key business metrics. These </a:t>
            </a:r>
            <a:r>
              <a:rPr lang="en-US" sz="1400" dirty="0" err="1"/>
              <a:t>KPIs</a:t>
            </a:r>
            <a:r>
              <a:rPr lang="en-US" sz="1400" dirty="0"/>
              <a:t> help stakeholders monitor revenue, sales volume, customer transactions, and pricing trends.</a:t>
            </a:r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D8585C8-C2DE-944A-3B2A-E97B3289560D}"/>
              </a:ext>
            </a:extLst>
          </p:cNvPr>
          <p:cNvSpPr/>
          <p:nvPr/>
        </p:nvSpPr>
        <p:spPr>
          <a:xfrm>
            <a:off x="98321" y="1550410"/>
            <a:ext cx="5786284" cy="1593454"/>
          </a:xfrm>
          <a:prstGeom prst="roundRect">
            <a:avLst/>
          </a:prstGeom>
          <a:noFill/>
          <a:effectLst>
            <a:glow rad="63500">
              <a:schemeClr val="accent6">
                <a:satMod val="175000"/>
                <a:alpha val="40000"/>
              </a:schemeClr>
            </a:glo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BABA46B-0DD8-AA32-5C43-42BF5F8BA090}"/>
              </a:ext>
            </a:extLst>
          </p:cNvPr>
          <p:cNvSpPr/>
          <p:nvPr/>
        </p:nvSpPr>
        <p:spPr>
          <a:xfrm>
            <a:off x="98321" y="4967747"/>
            <a:ext cx="11995354" cy="1846006"/>
          </a:xfrm>
          <a:prstGeom prst="roundRect">
            <a:avLst/>
          </a:prstGeom>
          <a:noFill/>
          <a:effectLst>
            <a:glow rad="63500">
              <a:schemeClr val="accent6">
                <a:satMod val="175000"/>
                <a:alpha val="40000"/>
              </a:schemeClr>
            </a:glo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FC33C45-B964-0F8F-1FD7-CB0B31E7B6F7}"/>
              </a:ext>
            </a:extLst>
          </p:cNvPr>
          <p:cNvSpPr/>
          <p:nvPr/>
        </p:nvSpPr>
        <p:spPr>
          <a:xfrm>
            <a:off x="98321" y="3263680"/>
            <a:ext cx="5786283" cy="1593454"/>
          </a:xfrm>
          <a:prstGeom prst="roundRect">
            <a:avLst/>
          </a:prstGeom>
          <a:noFill/>
          <a:effectLst>
            <a:glow rad="63500">
              <a:schemeClr val="accent6">
                <a:satMod val="175000"/>
                <a:alpha val="40000"/>
              </a:schemeClr>
            </a:glo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DA6A2DE-A4F4-97C8-32E4-F371BE6BA61D}"/>
              </a:ext>
            </a:extLst>
          </p:cNvPr>
          <p:cNvSpPr/>
          <p:nvPr/>
        </p:nvSpPr>
        <p:spPr>
          <a:xfrm>
            <a:off x="6307393" y="1582994"/>
            <a:ext cx="5786283" cy="1560870"/>
          </a:xfrm>
          <a:prstGeom prst="roundRect">
            <a:avLst/>
          </a:prstGeom>
          <a:noFill/>
          <a:effectLst>
            <a:glow rad="63500">
              <a:schemeClr val="accent6">
                <a:satMod val="175000"/>
                <a:alpha val="40000"/>
              </a:schemeClr>
            </a:glo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13EE655-13A2-2494-4CB9-FA4B422610DD}"/>
              </a:ext>
            </a:extLst>
          </p:cNvPr>
          <p:cNvSpPr/>
          <p:nvPr/>
        </p:nvSpPr>
        <p:spPr>
          <a:xfrm>
            <a:off x="6307392" y="3254477"/>
            <a:ext cx="5786283" cy="1602657"/>
          </a:xfrm>
          <a:prstGeom prst="roundRect">
            <a:avLst/>
          </a:prstGeom>
          <a:noFill/>
          <a:effectLst>
            <a:glow rad="63500">
              <a:schemeClr val="accent6">
                <a:satMod val="175000"/>
                <a:alpha val="40000"/>
              </a:schemeClr>
            </a:glo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790E58-98DB-6AF2-AFDD-B3A3B1DA585B}"/>
              </a:ext>
            </a:extLst>
          </p:cNvPr>
          <p:cNvSpPr txBox="1"/>
          <p:nvPr/>
        </p:nvSpPr>
        <p:spPr>
          <a:xfrm>
            <a:off x="204017" y="1694020"/>
            <a:ext cx="55748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💰 Total Sales</a:t>
            </a:r>
          </a:p>
          <a:p>
            <a:r>
              <a:rPr lang="en-US" sz="1600" b="1" dirty="0"/>
              <a:t>₹769 Million</a:t>
            </a:r>
            <a:endParaRPr lang="en-US" sz="1600" dirty="0"/>
          </a:p>
          <a:p>
            <a:r>
              <a:rPr lang="en-US" sz="1400" dirty="0"/>
              <a:t>Represents the total revenue generated from mobile phone sales. </a:t>
            </a:r>
          </a:p>
          <a:p>
            <a:r>
              <a:rPr lang="en-US" sz="1400" dirty="0"/>
              <a:t>Indicates strong overall business performance. </a:t>
            </a:r>
          </a:p>
          <a:p>
            <a:r>
              <a:rPr lang="en-US" sz="1400" dirty="0"/>
              <a:t>Serves as the primary metric for measuring business growth. </a:t>
            </a:r>
          </a:p>
          <a:p>
            <a:endParaRPr lang="en-IN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7551F3-B40C-09FE-FBD8-92DFCBA76CB8}"/>
              </a:ext>
            </a:extLst>
          </p:cNvPr>
          <p:cNvSpPr txBox="1"/>
          <p:nvPr/>
        </p:nvSpPr>
        <p:spPr>
          <a:xfrm>
            <a:off x="6413089" y="1694020"/>
            <a:ext cx="56805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📦 Total Quantity Sold</a:t>
            </a:r>
          </a:p>
          <a:p>
            <a:r>
              <a:rPr lang="en-US" sz="1600" b="1" dirty="0" err="1"/>
              <a:t>19K</a:t>
            </a:r>
            <a:r>
              <a:rPr lang="en-US" sz="1600" b="1" dirty="0"/>
              <a:t> Units</a:t>
            </a:r>
            <a:endParaRPr lang="en-US" sz="1600" dirty="0"/>
          </a:p>
          <a:p>
            <a:r>
              <a:rPr lang="en-US" sz="1400" dirty="0"/>
              <a:t>Total number of mobile phones sold during the analysis period. </a:t>
            </a:r>
          </a:p>
          <a:p>
            <a:r>
              <a:rPr lang="en-US" sz="1400" dirty="0"/>
              <a:t>Reflects customer demand and product movement. </a:t>
            </a:r>
          </a:p>
          <a:p>
            <a:r>
              <a:rPr lang="en-US" sz="1400" dirty="0"/>
              <a:t>Helps evaluate inventory and supply chain requirements. </a:t>
            </a:r>
          </a:p>
          <a:p>
            <a:endParaRPr lang="en-IN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CBD471-49CA-57E1-8B66-F7762C1F39E0}"/>
              </a:ext>
            </a:extLst>
          </p:cNvPr>
          <p:cNvSpPr txBox="1"/>
          <p:nvPr/>
        </p:nvSpPr>
        <p:spPr>
          <a:xfrm>
            <a:off x="204017" y="3410119"/>
            <a:ext cx="55748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🧾 Total Transactions</a:t>
            </a:r>
          </a:p>
          <a:p>
            <a:r>
              <a:rPr lang="en-US" sz="1600" b="1" dirty="0" err="1"/>
              <a:t>4K</a:t>
            </a:r>
            <a:r>
              <a:rPr lang="en-US" sz="1600" b="1" dirty="0"/>
              <a:t> Transactions</a:t>
            </a:r>
            <a:endParaRPr lang="en-US" sz="1600" dirty="0"/>
          </a:p>
          <a:p>
            <a:r>
              <a:rPr lang="en-US" sz="1400" dirty="0"/>
              <a:t>Total customer purchase transactions recorded. </a:t>
            </a:r>
          </a:p>
          <a:p>
            <a:r>
              <a:rPr lang="en-US" sz="1400" dirty="0"/>
              <a:t>Provides insights into customer purchasing activity. </a:t>
            </a:r>
          </a:p>
          <a:p>
            <a:r>
              <a:rPr lang="en-US" sz="1400" dirty="0"/>
              <a:t>Useful for analyzing sales frequency and customer engagement.</a:t>
            </a:r>
          </a:p>
          <a:p>
            <a:endParaRPr lang="en-IN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EFC725-B30E-1700-7826-9F9228EEF6A8}"/>
              </a:ext>
            </a:extLst>
          </p:cNvPr>
          <p:cNvSpPr txBox="1"/>
          <p:nvPr/>
        </p:nvSpPr>
        <p:spPr>
          <a:xfrm>
            <a:off x="6413089" y="3429000"/>
            <a:ext cx="568058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💵 Average Selling Price</a:t>
            </a:r>
          </a:p>
          <a:p>
            <a:r>
              <a:rPr lang="en-US" sz="1600" b="1" dirty="0"/>
              <a:t>₹</a:t>
            </a:r>
            <a:r>
              <a:rPr lang="en-US" sz="1600" b="1" dirty="0" err="1"/>
              <a:t>40.11K</a:t>
            </a:r>
            <a:endParaRPr lang="en-US" sz="1600" dirty="0"/>
          </a:p>
          <a:p>
            <a:r>
              <a:rPr lang="en-US" sz="1400" dirty="0"/>
              <a:t>Average revenue generated per mobile phone sold. </a:t>
            </a:r>
          </a:p>
          <a:p>
            <a:r>
              <a:rPr lang="en-US" sz="1400" dirty="0"/>
              <a:t>Indicates strong demand for mid-range and premium smartphones. </a:t>
            </a:r>
          </a:p>
          <a:p>
            <a:r>
              <a:rPr lang="en-US" sz="1400" dirty="0"/>
              <a:t>Helps assess pricing strategy and product positioning.</a:t>
            </a:r>
          </a:p>
          <a:p>
            <a:endParaRPr lang="en-IN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2D92AC-246B-0D92-91D1-6EA923B40EF0}"/>
              </a:ext>
            </a:extLst>
          </p:cNvPr>
          <p:cNvSpPr txBox="1"/>
          <p:nvPr/>
        </p:nvSpPr>
        <p:spPr>
          <a:xfrm>
            <a:off x="204017" y="5029573"/>
            <a:ext cx="1163505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📈 </a:t>
            </a:r>
            <a:r>
              <a:rPr lang="en-IN" b="1" dirty="0" err="1"/>
              <a:t>KPI</a:t>
            </a:r>
            <a:r>
              <a:rPr lang="en-IN" b="1" dirty="0"/>
              <a:t> Insights</a:t>
            </a:r>
          </a:p>
          <a:p>
            <a:endParaRPr lang="en-IN" b="1" dirty="0"/>
          </a:p>
          <a:p>
            <a:r>
              <a:rPr lang="en-IN" sz="1400" dirty="0"/>
              <a:t>✅ Generated </a:t>
            </a:r>
            <a:r>
              <a:rPr lang="en-IN" sz="1400" b="1" dirty="0"/>
              <a:t>₹</a:t>
            </a:r>
            <a:r>
              <a:rPr lang="en-IN" sz="1400" b="1" dirty="0" err="1"/>
              <a:t>769M</a:t>
            </a:r>
            <a:r>
              <a:rPr lang="en-IN" sz="1400" dirty="0"/>
              <a:t> in total revenue.</a:t>
            </a:r>
            <a:br>
              <a:rPr lang="en-IN" sz="1400" dirty="0"/>
            </a:br>
            <a:r>
              <a:rPr lang="en-IN" sz="1400" dirty="0"/>
              <a:t>✅ </a:t>
            </a:r>
            <a:r>
              <a:rPr lang="en-US" sz="1400" dirty="0"/>
              <a:t>Sold over </a:t>
            </a:r>
            <a:r>
              <a:rPr lang="en-US" sz="1400" dirty="0" err="1"/>
              <a:t>19K</a:t>
            </a:r>
            <a:r>
              <a:rPr lang="en-US" sz="1400" dirty="0"/>
              <a:t> mobile units across </a:t>
            </a:r>
            <a:r>
              <a:rPr lang="en-US" sz="1400" dirty="0" err="1"/>
              <a:t>4K</a:t>
            </a:r>
            <a:r>
              <a:rPr lang="en-US" sz="1400" dirty="0"/>
              <a:t> transactions.</a:t>
            </a:r>
            <a:br>
              <a:rPr lang="en-IN" sz="1400" dirty="0"/>
            </a:br>
            <a:r>
              <a:rPr lang="en-IN" sz="1400" dirty="0"/>
              <a:t>✅ </a:t>
            </a:r>
            <a:r>
              <a:rPr lang="en-US" sz="1400" dirty="0"/>
              <a:t>Strong demand for mid-range and premium smartphones.</a:t>
            </a:r>
            <a:br>
              <a:rPr lang="en-IN" sz="1400" dirty="0"/>
            </a:br>
            <a:r>
              <a:rPr lang="en-IN" sz="1400" dirty="0"/>
              <a:t>✅ Maintained an average selling price of </a:t>
            </a:r>
            <a:r>
              <a:rPr lang="en-IN" sz="1400" b="1" dirty="0"/>
              <a:t>₹</a:t>
            </a:r>
            <a:r>
              <a:rPr lang="en-IN" sz="1400" b="1" dirty="0" err="1"/>
              <a:t>40.11K</a:t>
            </a:r>
            <a:r>
              <a:rPr lang="en-IN" sz="1400" b="1" dirty="0"/>
              <a:t> per device</a:t>
            </a:r>
            <a:r>
              <a:rPr lang="en-IN" sz="1400" dirty="0"/>
              <a:t>.</a:t>
            </a:r>
            <a:br>
              <a:rPr lang="en-IN" sz="1400" dirty="0"/>
            </a:br>
            <a:r>
              <a:rPr lang="en-IN" sz="1400" dirty="0"/>
              <a:t>✅ </a:t>
            </a:r>
            <a:r>
              <a:rPr lang="en-US" sz="1400" dirty="0"/>
              <a:t>Indicates stable sales performance and healthy business growth</a:t>
            </a:r>
            <a:r>
              <a:rPr lang="en-US" dirty="0"/>
              <a:t>.</a:t>
            </a:r>
            <a:endParaRPr lang="en-IN" dirty="0"/>
          </a:p>
          <a:p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594EF6C-A4FC-513F-A476-477811B363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2342" y="5087563"/>
            <a:ext cx="4586732" cy="77927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5263BDB-9FF6-8384-2FD7-166FD8DBCB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2342" y="5993050"/>
            <a:ext cx="4586732" cy="74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101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E90D16-7052-F57D-5549-1656520EAB81}"/>
              </a:ext>
            </a:extLst>
          </p:cNvPr>
          <p:cNvSpPr txBox="1"/>
          <p:nvPr/>
        </p:nvSpPr>
        <p:spPr>
          <a:xfrm>
            <a:off x="0" y="0"/>
            <a:ext cx="12192000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📈 Monthly Sales Trend Analysis</a:t>
            </a:r>
          </a:p>
          <a:p>
            <a:endParaRPr lang="en-US" sz="2000" b="1" dirty="0"/>
          </a:p>
          <a:p>
            <a:r>
              <a:rPr lang="en-US" sz="1600" b="1" dirty="0"/>
              <a:t>🎯 Monthly Sales Performance</a:t>
            </a:r>
          </a:p>
          <a:p>
            <a:r>
              <a:rPr lang="en-US" sz="1400" dirty="0"/>
              <a:t>This analysis examines monthly sales quantity trends to identify peak sales </a:t>
            </a:r>
          </a:p>
          <a:p>
            <a:r>
              <a:rPr lang="en-US" sz="1400" dirty="0"/>
              <a:t>periods, low-performing months, and seasonal demand patterns throughout </a:t>
            </a:r>
          </a:p>
          <a:p>
            <a:r>
              <a:rPr lang="en-US" sz="1400" dirty="0"/>
              <a:t>the year.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37C58B-A12E-F527-D920-0FC023B1AAAD}"/>
              </a:ext>
            </a:extLst>
          </p:cNvPr>
          <p:cNvSpPr txBox="1"/>
          <p:nvPr/>
        </p:nvSpPr>
        <p:spPr>
          <a:xfrm>
            <a:off x="0" y="1674436"/>
            <a:ext cx="7106652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🔍 Key Insights</a:t>
            </a:r>
          </a:p>
          <a:p>
            <a:r>
              <a:rPr lang="en-US" sz="1600" b="1" dirty="0"/>
              <a:t>🏆 Highest Performing Month</a:t>
            </a:r>
          </a:p>
          <a:p>
            <a:r>
              <a:rPr lang="en-US" sz="1600" b="1" dirty="0"/>
              <a:t>July (1,700 Units)</a:t>
            </a:r>
            <a:endParaRPr lang="en-US" sz="1600" dirty="0"/>
          </a:p>
          <a:p>
            <a:r>
              <a:rPr lang="en-US" sz="1400" dirty="0"/>
              <a:t>Recorded the highest quantity sold. </a:t>
            </a:r>
          </a:p>
          <a:p>
            <a:r>
              <a:rPr lang="en-US" sz="1400" dirty="0"/>
              <a:t>Indicates strong customer demand and market activity. </a:t>
            </a:r>
          </a:p>
          <a:p>
            <a:r>
              <a:rPr lang="en-US" sz="1400" dirty="0"/>
              <a:t>May be influenced by seasonal offers or product launches. </a:t>
            </a:r>
          </a:p>
          <a:p>
            <a:endParaRPr lang="en-US" sz="1400" dirty="0"/>
          </a:p>
          <a:p>
            <a:r>
              <a:rPr lang="en-US" sz="1400" b="1" dirty="0"/>
              <a:t>📈 Strong Sales Months</a:t>
            </a:r>
          </a:p>
          <a:p>
            <a:r>
              <a:rPr lang="en-US" sz="1400" dirty="0"/>
              <a:t>Top Performing Months:</a:t>
            </a:r>
            <a:br>
              <a:rPr lang="en-US" sz="1400" dirty="0"/>
            </a:br>
            <a:r>
              <a:rPr lang="en-US" sz="1400" dirty="0"/>
              <a:t>• July (1,700)</a:t>
            </a:r>
            <a:br>
              <a:rPr lang="en-US" sz="1400" dirty="0"/>
            </a:br>
            <a:r>
              <a:rPr lang="en-US" sz="1400" dirty="0"/>
              <a:t>• March (1,696)</a:t>
            </a:r>
            <a:br>
              <a:rPr lang="en-US" sz="1400" dirty="0"/>
            </a:br>
            <a:r>
              <a:rPr lang="en-US" sz="1400" dirty="0"/>
              <a:t>• January (1,672)</a:t>
            </a:r>
          </a:p>
          <a:p>
            <a:endParaRPr lang="en-US" sz="1400" dirty="0"/>
          </a:p>
          <a:p>
            <a:r>
              <a:rPr lang="en-US" sz="1600" b="1" dirty="0"/>
              <a:t>📉 Lowest Performing Month</a:t>
            </a:r>
          </a:p>
          <a:p>
            <a:r>
              <a:rPr lang="en-US" sz="1600" b="1" dirty="0"/>
              <a:t>February (1,451 Units)</a:t>
            </a:r>
            <a:endParaRPr lang="en-US" sz="1600" dirty="0"/>
          </a:p>
          <a:p>
            <a:r>
              <a:rPr lang="en-US" sz="1400" dirty="0"/>
              <a:t>Recorded the lowest sales volume. </a:t>
            </a:r>
          </a:p>
          <a:p>
            <a:r>
              <a:rPr lang="en-US" sz="1400" dirty="0"/>
              <a:t>Represents a decline compared to January and March. </a:t>
            </a:r>
          </a:p>
          <a:p>
            <a:r>
              <a:rPr lang="en-US" sz="1400" dirty="0"/>
              <a:t>May indicate reduced customer demand during this period. </a:t>
            </a:r>
          </a:p>
          <a:p>
            <a:endParaRPr lang="en-US" sz="1600" dirty="0"/>
          </a:p>
          <a:p>
            <a:r>
              <a:rPr lang="en-US" sz="1600" b="1" dirty="0"/>
              <a:t>🔄 Sales Stability</a:t>
            </a:r>
          </a:p>
          <a:p>
            <a:r>
              <a:rPr lang="en-US" sz="1400" dirty="0"/>
              <a:t>Sales remained stable between 1,451 and 1,700 units, indicating </a:t>
            </a:r>
          </a:p>
          <a:p>
            <a:r>
              <a:rPr lang="en-US" sz="1400" dirty="0"/>
              <a:t>consistent customer demand throughout the year.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BCDF09-EC5D-2ED2-CBC9-8CFCCB2676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2651" y="301240"/>
            <a:ext cx="6497053" cy="38724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F11789-11C4-0C7E-EEC7-E5F446D03928}"/>
              </a:ext>
            </a:extLst>
          </p:cNvPr>
          <p:cNvSpPr txBox="1"/>
          <p:nvPr/>
        </p:nvSpPr>
        <p:spPr>
          <a:xfrm>
            <a:off x="5478377" y="4414122"/>
            <a:ext cx="6705599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💡 Business Recommendations :</a:t>
            </a:r>
          </a:p>
          <a:p>
            <a:r>
              <a:rPr lang="en-US" sz="1400" dirty="0"/>
              <a:t>✅ Increase inventory before March and July.</a:t>
            </a:r>
          </a:p>
          <a:p>
            <a:r>
              <a:rPr lang="en-US" sz="1400" dirty="0"/>
              <a:t>✅ Run promotions during February and September.</a:t>
            </a:r>
          </a:p>
          <a:p>
            <a:r>
              <a:rPr lang="en-US" sz="1400" dirty="0"/>
              <a:t>✅ Analyze successful strategies from peak months.</a:t>
            </a:r>
          </a:p>
          <a:p>
            <a:r>
              <a:rPr lang="en-US" sz="1400" dirty="0"/>
              <a:t>✅ Maintain stock levels to meet consistent demand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FA5623-1A01-66AA-CDE7-3D4E9EC1D8DF}"/>
              </a:ext>
            </a:extLst>
          </p:cNvPr>
          <p:cNvSpPr txBox="1"/>
          <p:nvPr/>
        </p:nvSpPr>
        <p:spPr>
          <a:xfrm>
            <a:off x="5486401" y="5762069"/>
            <a:ext cx="64970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📌 Conclusion</a:t>
            </a:r>
          </a:p>
          <a:p>
            <a:r>
              <a:rPr lang="en-US" sz="1400" dirty="0"/>
              <a:t>Sales remained consistent throughout the year, with July emerging as the strongest month and February as the weakest. The stable sales pattern indicates predictable customer demand and effective market performance.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677531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93CB41-1DE5-A955-B9F7-325EDA613C62}"/>
              </a:ext>
            </a:extLst>
          </p:cNvPr>
          <p:cNvSpPr txBox="1"/>
          <p:nvPr/>
        </p:nvSpPr>
        <p:spPr>
          <a:xfrm>
            <a:off x="1" y="0"/>
            <a:ext cx="6096000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🏙️City-wise &amp; Brand-wise Sales Analysis</a:t>
            </a:r>
          </a:p>
          <a:p>
            <a:endParaRPr lang="en-US" sz="1600" dirty="0"/>
          </a:p>
          <a:p>
            <a:r>
              <a:rPr lang="en-US" sz="1600" b="1" dirty="0"/>
              <a:t>📍 City-wise Sales Analysis</a:t>
            </a:r>
          </a:p>
          <a:p>
            <a:r>
              <a:rPr lang="en-US" sz="1600" dirty="0"/>
              <a:t>The city-wise sales analysis helps identify geographic regions contributing the highest revenue and sales volume.</a:t>
            </a:r>
          </a:p>
          <a:p>
            <a:endParaRPr lang="en-US" dirty="0"/>
          </a:p>
          <a:p>
            <a:r>
              <a:rPr lang="en-US" sz="1600" b="1" dirty="0"/>
              <a:t>🔍 Key Insights</a:t>
            </a:r>
          </a:p>
          <a:p>
            <a:endParaRPr lang="en-US" sz="1600" b="1" dirty="0"/>
          </a:p>
          <a:p>
            <a:r>
              <a:rPr lang="en-US" sz="1600" dirty="0"/>
              <a:t>🏆 </a:t>
            </a:r>
            <a:r>
              <a:rPr lang="en-US" sz="1600" b="1" dirty="0"/>
              <a:t>Top Revenue-Contributing Cities</a:t>
            </a:r>
            <a:endParaRPr lang="en-US" sz="1600" dirty="0"/>
          </a:p>
          <a:p>
            <a:r>
              <a:rPr lang="en-IN" sz="1600" dirty="0"/>
              <a:t>• Delhi</a:t>
            </a:r>
            <a:br>
              <a:rPr lang="en-IN" sz="1600" dirty="0"/>
            </a:br>
            <a:r>
              <a:rPr lang="en-IN" sz="1600" dirty="0"/>
              <a:t>• Mumbai</a:t>
            </a:r>
            <a:br>
              <a:rPr lang="en-IN" sz="1600" dirty="0"/>
            </a:br>
            <a:r>
              <a:rPr lang="en-IN" sz="1600" dirty="0"/>
              <a:t>• Bangalore</a:t>
            </a:r>
            <a:br>
              <a:rPr lang="en-IN" sz="1600" dirty="0"/>
            </a:br>
            <a:r>
              <a:rPr lang="en-IN" sz="1600" dirty="0"/>
              <a:t>• Hyderabad</a:t>
            </a:r>
            <a:br>
              <a:rPr lang="en-IN" sz="1600" dirty="0"/>
            </a:br>
            <a:r>
              <a:rPr lang="en-IN" sz="1600" dirty="0"/>
              <a:t>• Lucknow</a:t>
            </a:r>
          </a:p>
          <a:p>
            <a:r>
              <a:rPr lang="en-US" sz="1600" dirty="0"/>
              <a:t>📈 Metropolitan cities emerged as the primary revenue drivers, reflecting stronger customer demand and purchasing power.</a:t>
            </a:r>
          </a:p>
          <a:p>
            <a:r>
              <a:rPr lang="en-US" sz="1600" dirty="0"/>
              <a:t>📊 Sales distribution is concentrated in urban markets with higher smartphone demand.</a:t>
            </a:r>
          </a:p>
          <a:p>
            <a:r>
              <a:rPr lang="en-US" sz="1600" dirty="0"/>
              <a:t>🌍 Strong market presence is observed across multiple regions of India, reducing dependency on a single location.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DFD897-6242-9F77-6B15-7B08605509D8}"/>
              </a:ext>
            </a:extLst>
          </p:cNvPr>
          <p:cNvSpPr txBox="1"/>
          <p:nvPr/>
        </p:nvSpPr>
        <p:spPr>
          <a:xfrm>
            <a:off x="6096000" y="0"/>
            <a:ext cx="593557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🏷️ Brand-wise Sales Analysis</a:t>
            </a:r>
          </a:p>
          <a:p>
            <a:endParaRPr lang="en-US" sz="1600" b="1" dirty="0"/>
          </a:p>
          <a:p>
            <a:r>
              <a:rPr lang="en-US" sz="1600" b="1" dirty="0"/>
              <a:t>Revenue by Brand</a:t>
            </a:r>
          </a:p>
          <a:p>
            <a:endParaRPr lang="en-IN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3DC618D-A527-D50E-E491-ADF55488FB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0706740"/>
              </p:ext>
            </p:extLst>
          </p:nvPr>
        </p:nvGraphicFramePr>
        <p:xfrm>
          <a:off x="6095998" y="842156"/>
          <a:ext cx="4668256" cy="1828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334128">
                  <a:extLst>
                    <a:ext uri="{9D8B030D-6E8A-4147-A177-3AD203B41FA5}">
                      <a16:colId xmlns:a16="http://schemas.microsoft.com/office/drawing/2014/main" val="1751519630"/>
                    </a:ext>
                  </a:extLst>
                </a:gridCol>
                <a:gridCol w="2334128">
                  <a:extLst>
                    <a:ext uri="{9D8B030D-6E8A-4147-A177-3AD203B41FA5}">
                      <a16:colId xmlns:a16="http://schemas.microsoft.com/office/drawing/2014/main" val="511638904"/>
                    </a:ext>
                  </a:extLst>
                </a:gridCol>
              </a:tblGrid>
              <a:tr h="283956">
                <a:tc>
                  <a:txBody>
                    <a:bodyPr/>
                    <a:lstStyle/>
                    <a:p>
                      <a:r>
                        <a:rPr lang="en-IN" dirty="0"/>
                        <a:t>Brand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Total Sales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65780"/>
                  </a:ext>
                </a:extLst>
              </a:tr>
              <a:tr h="283956">
                <a:tc>
                  <a:txBody>
                    <a:bodyPr/>
                    <a:lstStyle/>
                    <a:p>
                      <a:r>
                        <a:rPr lang="en-IN" dirty="0"/>
                        <a:t>Apple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₹</a:t>
                      </a:r>
                      <a:r>
                        <a:rPr lang="en-IN" dirty="0" err="1"/>
                        <a:t>161.62M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1833814"/>
                  </a:ext>
                </a:extLst>
              </a:tr>
              <a:tr h="283956">
                <a:tc>
                  <a:txBody>
                    <a:bodyPr/>
                    <a:lstStyle/>
                    <a:p>
                      <a:r>
                        <a:rPr lang="en-IN" dirty="0"/>
                        <a:t>Samsung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₹</a:t>
                      </a:r>
                      <a:r>
                        <a:rPr lang="en-IN" dirty="0" err="1"/>
                        <a:t>160.04M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4149460"/>
                  </a:ext>
                </a:extLst>
              </a:tr>
              <a:tr h="283956">
                <a:tc>
                  <a:txBody>
                    <a:bodyPr/>
                    <a:lstStyle/>
                    <a:p>
                      <a:r>
                        <a:rPr lang="en-IN" dirty="0"/>
                        <a:t>OnePlus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₹</a:t>
                      </a:r>
                      <a:r>
                        <a:rPr lang="en-IN" dirty="0" err="1"/>
                        <a:t>153.72M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833128"/>
                  </a:ext>
                </a:extLst>
              </a:tr>
              <a:tr h="283956">
                <a:tc>
                  <a:txBody>
                    <a:bodyPr/>
                    <a:lstStyle/>
                    <a:p>
                      <a:r>
                        <a:rPr lang="en-IN" dirty="0"/>
                        <a:t>Vivo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₹</a:t>
                      </a:r>
                      <a:r>
                        <a:rPr lang="en-IN" dirty="0" err="1"/>
                        <a:t>150.08M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308809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A22C128-79DD-86B1-C384-6EACA8014D24}"/>
              </a:ext>
            </a:extLst>
          </p:cNvPr>
          <p:cNvSpPr txBox="1"/>
          <p:nvPr/>
        </p:nvSpPr>
        <p:spPr>
          <a:xfrm>
            <a:off x="6015790" y="2662267"/>
            <a:ext cx="609600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🔍 Key Insights</a:t>
            </a:r>
          </a:p>
          <a:p>
            <a:r>
              <a:rPr lang="en-US" sz="1600" dirty="0"/>
              <a:t>🥇 </a:t>
            </a:r>
            <a:r>
              <a:rPr lang="en-US" sz="1600" b="1" dirty="0"/>
              <a:t>Apple generated the highest revenue</a:t>
            </a:r>
            <a:r>
              <a:rPr lang="en-US" sz="1600" dirty="0"/>
              <a:t> </a:t>
            </a:r>
            <a:r>
              <a:rPr lang="en-US" dirty="0"/>
              <a:t>among all brands.</a:t>
            </a:r>
          </a:p>
          <a:p>
            <a:r>
              <a:rPr lang="en-US" sz="1600" dirty="0"/>
              <a:t>📱 Samsung closely followed Apple, indicating strong competition in the smartphone market.</a:t>
            </a:r>
          </a:p>
          <a:p>
            <a:r>
              <a:rPr lang="en-US" sz="1600" dirty="0"/>
              <a:t>⚖️Revenue is distributed relatively evenly among leading brands, indicating healthy market competition.</a:t>
            </a:r>
          </a:p>
          <a:p>
            <a:r>
              <a:rPr lang="en-US" sz="1600" dirty="0"/>
              <a:t>📈 Premium and mid-range smartphone brands dominate overall sales performance.</a:t>
            </a:r>
          </a:p>
          <a:p>
            <a:endParaRPr lang="en-US" sz="1600" dirty="0"/>
          </a:p>
          <a:p>
            <a:r>
              <a:rPr lang="en-US" sz="1600" b="1" dirty="0"/>
              <a:t>💡 Business Recommendations</a:t>
            </a:r>
          </a:p>
          <a:p>
            <a:r>
              <a:rPr lang="en-US" sz="1600" dirty="0"/>
              <a:t>✅ Maintain sufficient inventory for Apple, Samsung, OnePlus, and Vivo devices.</a:t>
            </a:r>
          </a:p>
          <a:p>
            <a:r>
              <a:rPr lang="en-US" sz="1600" dirty="0"/>
              <a:t>✅ Increase marketing investments in high-performing cities to maximize revenue.</a:t>
            </a:r>
          </a:p>
          <a:p>
            <a:r>
              <a:rPr lang="en-US" sz="1600" dirty="0"/>
              <a:t>✅ Explore growth opportunities in Tier-2 and Tier-3 cities.</a:t>
            </a:r>
          </a:p>
          <a:p>
            <a:r>
              <a:rPr lang="en-US" sz="1600" dirty="0"/>
              <a:t>✅ Introduce region-specific promotional campaigns based on city-wise demand patterns.</a:t>
            </a:r>
          </a:p>
          <a:p>
            <a:endParaRPr lang="en-US" sz="1600" dirty="0"/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3546AF-F220-FAD9-A251-B49E0D3188D8}"/>
              </a:ext>
            </a:extLst>
          </p:cNvPr>
          <p:cNvSpPr txBox="1"/>
          <p:nvPr/>
        </p:nvSpPr>
        <p:spPr>
          <a:xfrm>
            <a:off x="0" y="5199614"/>
            <a:ext cx="601579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📌 Conclusion :</a:t>
            </a:r>
          </a:p>
          <a:p>
            <a:r>
              <a:rPr lang="en-US" sz="1600" dirty="0"/>
              <a:t>Metropolitan cities contribute significantly to overall sales performance, while Apple, Samsung, OnePlus, and Vivo remain the leading revenue-generating brands. The balanced brand contribution and strong regional presence indicate a stable and diversified mobile sales market.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03373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92E3C08-71FB-B1CD-C486-B6FB765A8980}"/>
              </a:ext>
            </a:extLst>
          </p:cNvPr>
          <p:cNvSpPr txBox="1"/>
          <p:nvPr/>
        </p:nvSpPr>
        <p:spPr>
          <a:xfrm>
            <a:off x="0" y="0"/>
            <a:ext cx="6096000" cy="6586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📱Mobile Model &amp; Payment Method Analysis</a:t>
            </a:r>
          </a:p>
          <a:p>
            <a:endParaRPr lang="en-IN" sz="1600" dirty="0"/>
          </a:p>
          <a:p>
            <a:r>
              <a:rPr lang="en-IN" sz="1600" b="1" dirty="0"/>
              <a:t>📱 Mobile Model Analysis</a:t>
            </a:r>
          </a:p>
          <a:p>
            <a:r>
              <a:rPr lang="en-IN" sz="1400" dirty="0"/>
              <a:t>The mobile model analysis identifies the best-performing smartphone models based on total sales revenue and helps understand customer product preferences.</a:t>
            </a:r>
          </a:p>
          <a:p>
            <a:endParaRPr lang="en-IN" dirty="0"/>
          </a:p>
          <a:p>
            <a:r>
              <a:rPr lang="en-IN" sz="1600" b="1" dirty="0"/>
              <a:t>🏆 Top Performing Mobile Models</a:t>
            </a:r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US" sz="1600" b="1" dirty="0"/>
          </a:p>
          <a:p>
            <a:endParaRPr lang="en-US" sz="1600" b="1" dirty="0"/>
          </a:p>
          <a:p>
            <a:endParaRPr lang="en-US" sz="1600" b="1" dirty="0"/>
          </a:p>
          <a:p>
            <a:r>
              <a:rPr lang="en-US" sz="1600" b="1" dirty="0"/>
              <a:t>🔍 Key Insights</a:t>
            </a:r>
          </a:p>
          <a:p>
            <a:endParaRPr lang="en-US" sz="1600" b="1" dirty="0"/>
          </a:p>
          <a:p>
            <a:r>
              <a:rPr lang="en-US" sz="1400" dirty="0"/>
              <a:t>🥇 </a:t>
            </a:r>
            <a:r>
              <a:rPr lang="en-US" sz="1400" b="1" dirty="0"/>
              <a:t>iPhone SE generated the highest sales revenue</a:t>
            </a:r>
            <a:r>
              <a:rPr lang="en-US" sz="1400" dirty="0"/>
              <a:t> among all mobile models.</a:t>
            </a:r>
          </a:p>
          <a:p>
            <a:r>
              <a:rPr lang="en-US" sz="1400" dirty="0"/>
              <a:t>📱 OnePlus Nord and Galaxy Note 20 also demonstrated strong market performance.</a:t>
            </a:r>
          </a:p>
          <a:p>
            <a:r>
              <a:rPr lang="en-US" sz="1400" dirty="0"/>
              <a:t>💰 Customers showed a preference for premium and upper mid-range smartphones.</a:t>
            </a:r>
          </a:p>
          <a:p>
            <a:r>
              <a:rPr lang="en-US" sz="1400" dirty="0"/>
              <a:t>📈A small group of flagship models contributes significantly to overall sales revenue.</a:t>
            </a:r>
          </a:p>
          <a:p>
            <a:endParaRPr lang="en-IN" b="1" dirty="0"/>
          </a:p>
          <a:p>
            <a:endParaRPr lang="en-IN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5F025A4-670B-AF8E-704F-75ED1DA3C3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2826755"/>
              </p:ext>
            </p:extLst>
          </p:nvPr>
        </p:nvGraphicFramePr>
        <p:xfrm>
          <a:off x="144379" y="2064110"/>
          <a:ext cx="4545264" cy="1463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72632">
                  <a:extLst>
                    <a:ext uri="{9D8B030D-6E8A-4147-A177-3AD203B41FA5}">
                      <a16:colId xmlns:a16="http://schemas.microsoft.com/office/drawing/2014/main" val="1673921302"/>
                    </a:ext>
                  </a:extLst>
                </a:gridCol>
                <a:gridCol w="2272632">
                  <a:extLst>
                    <a:ext uri="{9D8B030D-6E8A-4147-A177-3AD203B41FA5}">
                      <a16:colId xmlns:a16="http://schemas.microsoft.com/office/drawing/2014/main" val="2817154782"/>
                    </a:ext>
                  </a:extLst>
                </a:gridCol>
              </a:tblGrid>
              <a:tr h="286078">
                <a:tc>
                  <a:txBody>
                    <a:bodyPr/>
                    <a:lstStyle/>
                    <a:p>
                      <a:r>
                        <a:rPr lang="en-IN" dirty="0"/>
                        <a:t>Mobile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Total Sales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580995"/>
                  </a:ext>
                </a:extLst>
              </a:tr>
              <a:tr h="286078">
                <a:tc>
                  <a:txBody>
                    <a:bodyPr/>
                    <a:lstStyle/>
                    <a:p>
                      <a:r>
                        <a:rPr lang="en-IN" dirty="0"/>
                        <a:t>iPhone 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₹</a:t>
                      </a:r>
                      <a:r>
                        <a:rPr lang="en-IN" dirty="0" err="1"/>
                        <a:t>60M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3213773"/>
                  </a:ext>
                </a:extLst>
              </a:tr>
              <a:tr h="286078">
                <a:tc>
                  <a:txBody>
                    <a:bodyPr/>
                    <a:lstStyle/>
                    <a:p>
                      <a:r>
                        <a:rPr lang="en-IN" dirty="0"/>
                        <a:t>OnePlus Nord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₹</a:t>
                      </a:r>
                      <a:r>
                        <a:rPr lang="en-IN" dirty="0" err="1"/>
                        <a:t>58M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0151217"/>
                  </a:ext>
                </a:extLst>
              </a:tr>
              <a:tr h="286078">
                <a:tc>
                  <a:txBody>
                    <a:bodyPr/>
                    <a:lstStyle/>
                    <a:p>
                      <a:r>
                        <a:rPr lang="en-IN" dirty="0"/>
                        <a:t>Galaxy Note 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₹</a:t>
                      </a:r>
                      <a:r>
                        <a:rPr lang="en-IN" dirty="0" err="1"/>
                        <a:t>56M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303955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F84CF1B0-2C3F-EFE5-D2CC-920F90B8D5CE}"/>
              </a:ext>
            </a:extLst>
          </p:cNvPr>
          <p:cNvSpPr txBox="1"/>
          <p:nvPr/>
        </p:nvSpPr>
        <p:spPr>
          <a:xfrm>
            <a:off x="6058569" y="-21529"/>
            <a:ext cx="572703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💳 Payment Method Analysis</a:t>
            </a:r>
          </a:p>
          <a:p>
            <a:endParaRPr lang="en-US" sz="1600" b="1" dirty="0"/>
          </a:p>
          <a:p>
            <a:r>
              <a:rPr lang="en-US" sz="1400" dirty="0"/>
              <a:t>The payment method analysis helps understand customer transaction preferences and purchasing behavior.</a:t>
            </a:r>
          </a:p>
          <a:p>
            <a:endParaRPr lang="en-US" sz="1600" dirty="0"/>
          </a:p>
          <a:p>
            <a:r>
              <a:rPr lang="en-US" sz="1600" b="1" dirty="0"/>
              <a:t>Transaction Distribution by Payment Method</a:t>
            </a:r>
          </a:p>
          <a:p>
            <a:endParaRPr lang="en-IN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0F4DCAB-B26C-E399-B672-8BD0D624A9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8564100"/>
              </p:ext>
            </p:extLst>
          </p:nvPr>
        </p:nvGraphicFramePr>
        <p:xfrm>
          <a:off x="6096000" y="1476651"/>
          <a:ext cx="4192338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96169">
                  <a:extLst>
                    <a:ext uri="{9D8B030D-6E8A-4147-A177-3AD203B41FA5}">
                      <a16:colId xmlns:a16="http://schemas.microsoft.com/office/drawing/2014/main" val="4216346906"/>
                    </a:ext>
                  </a:extLst>
                </a:gridCol>
                <a:gridCol w="2096169">
                  <a:extLst>
                    <a:ext uri="{9D8B030D-6E8A-4147-A177-3AD203B41FA5}">
                      <a16:colId xmlns:a16="http://schemas.microsoft.com/office/drawing/2014/main" val="5086796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Payment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Share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9908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UPI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26.36%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9166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Debit Card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24.72%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0040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Credit Card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24.69%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133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24.22%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711721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0342E81-5A9E-F5FC-F11E-A364946735DF}"/>
              </a:ext>
            </a:extLst>
          </p:cNvPr>
          <p:cNvSpPr txBox="1"/>
          <p:nvPr/>
        </p:nvSpPr>
        <p:spPr>
          <a:xfrm>
            <a:off x="6058569" y="3527150"/>
            <a:ext cx="5951621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🔍 Key Insights</a:t>
            </a:r>
          </a:p>
          <a:p>
            <a:endParaRPr lang="en-US" sz="1600" b="1" dirty="0"/>
          </a:p>
          <a:p>
            <a:r>
              <a:rPr lang="en-US" sz="1400" dirty="0"/>
              <a:t>🥇 </a:t>
            </a:r>
            <a:r>
              <a:rPr lang="en-US" sz="1400" b="1" dirty="0"/>
              <a:t>UPI emerged as the most preferred payment method</a:t>
            </a:r>
            <a:r>
              <a:rPr lang="en-US" sz="1400" dirty="0"/>
              <a:t>.</a:t>
            </a:r>
          </a:p>
          <a:p>
            <a:r>
              <a:rPr lang="en-US" sz="1400" dirty="0"/>
              <a:t>📲 Digital payment methods account for nearly </a:t>
            </a:r>
            <a:r>
              <a:rPr lang="en-US" sz="1400" b="1" dirty="0"/>
              <a:t>75% of total transactions</a:t>
            </a:r>
            <a:r>
              <a:rPr lang="en-US" sz="1400" dirty="0"/>
              <a:t>.</a:t>
            </a:r>
          </a:p>
          <a:p>
            <a:r>
              <a:rPr lang="en-US" sz="1400" dirty="0"/>
              <a:t>⚖️ Transaction distribution is relatively balanced across all payment methods.</a:t>
            </a:r>
          </a:p>
          <a:p>
            <a:r>
              <a:rPr lang="en-US" sz="1400" dirty="0"/>
              <a:t>💡 The growing adoption of digital payments highlights a shift toward faster   and more convenient transaction methods.</a:t>
            </a:r>
          </a:p>
          <a:p>
            <a:endParaRPr lang="en-US" sz="1600" dirty="0"/>
          </a:p>
          <a:p>
            <a:r>
              <a:rPr lang="en-US" sz="1600" b="1" dirty="0"/>
              <a:t>💡 Business Recommendations</a:t>
            </a:r>
          </a:p>
          <a:p>
            <a:r>
              <a:rPr lang="en-US" sz="1400" dirty="0"/>
              <a:t>✅ Maintain adequate inventory levels for top-performing mobile models.</a:t>
            </a:r>
          </a:p>
          <a:p>
            <a:r>
              <a:rPr lang="en-US" sz="1400" dirty="0"/>
              <a:t>✅ Focus promotional campaigns on best-selling smartphones.</a:t>
            </a:r>
          </a:p>
          <a:p>
            <a:r>
              <a:rPr lang="en-US" sz="1400" dirty="0"/>
              <a:t>✅ Partner with UPI providers to offer cashback and discount schemes.</a:t>
            </a:r>
          </a:p>
          <a:p>
            <a:r>
              <a:rPr lang="en-US" sz="1400" dirty="0"/>
              <a:t>✅ Encourage digital payments through exclusive offers and loyalty programs.</a:t>
            </a:r>
          </a:p>
          <a:p>
            <a:endParaRPr lang="en-IN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21CC24-20EC-DF48-1543-00B94AE715A6}"/>
              </a:ext>
            </a:extLst>
          </p:cNvPr>
          <p:cNvSpPr txBox="1"/>
          <p:nvPr/>
        </p:nvSpPr>
        <p:spPr>
          <a:xfrm>
            <a:off x="-18715" y="5873115"/>
            <a:ext cx="609600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📌 Conclusion</a:t>
            </a:r>
          </a:p>
          <a:p>
            <a:r>
              <a:rPr lang="en-US" sz="1400" dirty="0"/>
              <a:t>Premium smartphone models contribute significantly to overall revenue, while UPI remains the most preferred payment method, highlighting strong demand for high-value products and digital payment solutions.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332140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F70EFC-52FF-6723-D8EA-5E5F66A99304}"/>
              </a:ext>
            </a:extLst>
          </p:cNvPr>
          <p:cNvSpPr txBox="1"/>
          <p:nvPr/>
        </p:nvSpPr>
        <p:spPr>
          <a:xfrm>
            <a:off x="0" y="0"/>
            <a:ext cx="609600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⭐ Customer Rating &amp; Weekday Sales Analysis</a:t>
            </a:r>
            <a:endParaRPr lang="en-US" dirty="0"/>
          </a:p>
          <a:p>
            <a:r>
              <a:rPr lang="en-US" sz="1600" b="1" dirty="0"/>
              <a:t>Customer Rating Analysis</a:t>
            </a:r>
          </a:p>
          <a:p>
            <a:r>
              <a:rPr lang="en-US" sz="1400" dirty="0"/>
              <a:t>Customer ratings provide insights into customer satisfaction levels and overall product experience.</a:t>
            </a:r>
          </a:p>
          <a:p>
            <a:endParaRPr lang="en-US" sz="1600" dirty="0"/>
          </a:p>
          <a:p>
            <a:r>
              <a:rPr lang="en-US" sz="1600" b="1" dirty="0"/>
              <a:t>📊 Rating Distribution</a:t>
            </a:r>
          </a:p>
          <a:p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5E479D1-6DF8-B0E0-6EED-7E052A4D09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5222222"/>
              </p:ext>
            </p:extLst>
          </p:nvPr>
        </p:nvGraphicFramePr>
        <p:xfrm>
          <a:off x="122990" y="1537959"/>
          <a:ext cx="4882148" cy="1463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41074">
                  <a:extLst>
                    <a:ext uri="{9D8B030D-6E8A-4147-A177-3AD203B41FA5}">
                      <a16:colId xmlns:a16="http://schemas.microsoft.com/office/drawing/2014/main" val="2816649314"/>
                    </a:ext>
                  </a:extLst>
                </a:gridCol>
                <a:gridCol w="2441074">
                  <a:extLst>
                    <a:ext uri="{9D8B030D-6E8A-4147-A177-3AD203B41FA5}">
                      <a16:colId xmlns:a16="http://schemas.microsoft.com/office/drawing/2014/main" val="3916986746"/>
                    </a:ext>
                  </a:extLst>
                </a:gridCol>
              </a:tblGrid>
              <a:tr h="285268">
                <a:tc>
                  <a:txBody>
                    <a:bodyPr/>
                    <a:lstStyle/>
                    <a:p>
                      <a:r>
                        <a:rPr lang="en-IN" dirty="0"/>
                        <a:t>Rating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Observation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78240"/>
                  </a:ext>
                </a:extLst>
              </a:tr>
              <a:tr h="285268">
                <a:tc>
                  <a:txBody>
                    <a:bodyPr/>
                    <a:lstStyle/>
                    <a:p>
                      <a:r>
                        <a:rPr lang="en-IN" dirty="0"/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Highest Share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3512083"/>
                  </a:ext>
                </a:extLst>
              </a:tr>
              <a:tr h="285268">
                <a:tc>
                  <a:txBody>
                    <a:bodyPr/>
                    <a:lstStyle/>
                    <a:p>
                      <a:r>
                        <a:rPr lang="en-IN" dirty="0"/>
                        <a:t>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Moderate Share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6125782"/>
                  </a:ext>
                </a:extLst>
              </a:tr>
              <a:tr h="285268">
                <a:tc>
                  <a:txBody>
                    <a:bodyPr/>
                    <a:lstStyle/>
                    <a:p>
                      <a:r>
                        <a:rPr lang="en-IN" dirty="0"/>
                        <a:t>Poor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Lowest Share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89634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6FDA982-65F1-F7B1-2782-7FD6C3D41D47}"/>
              </a:ext>
            </a:extLst>
          </p:cNvPr>
          <p:cNvSpPr txBox="1"/>
          <p:nvPr/>
        </p:nvSpPr>
        <p:spPr>
          <a:xfrm>
            <a:off x="80211" y="3000999"/>
            <a:ext cx="5967663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🔍 Key Insights</a:t>
            </a:r>
          </a:p>
          <a:p>
            <a:endParaRPr lang="en-US" b="1" dirty="0"/>
          </a:p>
          <a:p>
            <a:r>
              <a:rPr lang="en-US" sz="1400" dirty="0"/>
              <a:t>😊 </a:t>
            </a:r>
            <a:r>
              <a:rPr lang="en-US" sz="1400" b="1" dirty="0"/>
              <a:t>Most customers provided positive ratings</a:t>
            </a:r>
            <a:r>
              <a:rPr lang="en-US" sz="1400" dirty="0"/>
              <a:t>, indicating overall satisfaction with products and services.</a:t>
            </a:r>
          </a:p>
          <a:p>
            <a:r>
              <a:rPr lang="en-US" sz="1400" dirty="0"/>
              <a:t>📈 Good ratings significantly outnumber average and poor ratings.</a:t>
            </a:r>
          </a:p>
          <a:p>
            <a:r>
              <a:rPr lang="en-US" sz="1400" dirty="0"/>
              <a:t>🤝 Positive customer experiences contribute to customer loyalty and repeat purchases.</a:t>
            </a:r>
          </a:p>
          <a:p>
            <a:r>
              <a:rPr lang="en-US" sz="1400" dirty="0"/>
              <a:t>💡 Low poor-rating counts suggest effective product quality and customer service.</a:t>
            </a:r>
          </a:p>
          <a:p>
            <a:endParaRPr lang="en-US" sz="1400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103F75-D67C-047F-7EAF-94080EBFA53A}"/>
              </a:ext>
            </a:extLst>
          </p:cNvPr>
          <p:cNvSpPr txBox="1"/>
          <p:nvPr/>
        </p:nvSpPr>
        <p:spPr>
          <a:xfrm>
            <a:off x="6096000" y="0"/>
            <a:ext cx="6095999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📅 Weekday Sales Analysis</a:t>
            </a:r>
          </a:p>
          <a:p>
            <a:endParaRPr lang="en-US" b="1" dirty="0"/>
          </a:p>
          <a:p>
            <a:r>
              <a:rPr lang="en-US" sz="1400" dirty="0"/>
              <a:t>The weekday sales analysis helps identify the days generating the highest and lowest revenue.</a:t>
            </a:r>
          </a:p>
          <a:p>
            <a:endParaRPr lang="en-US" dirty="0"/>
          </a:p>
          <a:p>
            <a:r>
              <a:rPr lang="en-US" sz="1600" b="1" dirty="0"/>
              <a:t>💰 Sales by Day</a:t>
            </a:r>
          </a:p>
          <a:p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669F87A-6CEF-1FFD-8476-012971C4E0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9670596"/>
              </p:ext>
            </p:extLst>
          </p:nvPr>
        </p:nvGraphicFramePr>
        <p:xfrm>
          <a:off x="6170864" y="1537958"/>
          <a:ext cx="4882148" cy="33067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41074">
                  <a:extLst>
                    <a:ext uri="{9D8B030D-6E8A-4147-A177-3AD203B41FA5}">
                      <a16:colId xmlns:a16="http://schemas.microsoft.com/office/drawing/2014/main" val="372475739"/>
                    </a:ext>
                  </a:extLst>
                </a:gridCol>
                <a:gridCol w="2441074">
                  <a:extLst>
                    <a:ext uri="{9D8B030D-6E8A-4147-A177-3AD203B41FA5}">
                      <a16:colId xmlns:a16="http://schemas.microsoft.com/office/drawing/2014/main" val="2950720386"/>
                    </a:ext>
                  </a:extLst>
                </a:gridCol>
              </a:tblGrid>
              <a:tr h="413345">
                <a:tc>
                  <a:txBody>
                    <a:bodyPr/>
                    <a:lstStyle/>
                    <a:p>
                      <a:r>
                        <a:rPr lang="en-IN" dirty="0"/>
                        <a:t>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Sales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7093880"/>
                  </a:ext>
                </a:extLst>
              </a:tr>
              <a:tr h="413345">
                <a:tc>
                  <a:txBody>
                    <a:bodyPr/>
                    <a:lstStyle/>
                    <a:p>
                      <a:r>
                        <a:rPr lang="en-IN" dirty="0"/>
                        <a:t>Monday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₹</a:t>
                      </a:r>
                      <a:r>
                        <a:rPr lang="en-IN" dirty="0" err="1"/>
                        <a:t>26.4M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1223696"/>
                  </a:ext>
                </a:extLst>
              </a:tr>
              <a:tr h="413345">
                <a:tc>
                  <a:txBody>
                    <a:bodyPr/>
                    <a:lstStyle/>
                    <a:p>
                      <a:r>
                        <a:rPr lang="en-IN" dirty="0"/>
                        <a:t>Friday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₹</a:t>
                      </a:r>
                      <a:r>
                        <a:rPr lang="en-IN" dirty="0" err="1"/>
                        <a:t>26.4M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7675506"/>
                  </a:ext>
                </a:extLst>
              </a:tr>
              <a:tr h="413345">
                <a:tc>
                  <a:txBody>
                    <a:bodyPr/>
                    <a:lstStyle/>
                    <a:p>
                      <a:r>
                        <a:rPr lang="en-IN" dirty="0"/>
                        <a:t>Tuesday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₹</a:t>
                      </a:r>
                      <a:r>
                        <a:rPr lang="en-IN" dirty="0" err="1"/>
                        <a:t>26.2M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127821"/>
                  </a:ext>
                </a:extLst>
              </a:tr>
              <a:tr h="413345">
                <a:tc>
                  <a:txBody>
                    <a:bodyPr/>
                    <a:lstStyle/>
                    <a:p>
                      <a:r>
                        <a:rPr lang="en-IN" dirty="0"/>
                        <a:t>Sunday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₹</a:t>
                      </a:r>
                      <a:r>
                        <a:rPr lang="en-IN" dirty="0" err="1"/>
                        <a:t>23.9M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5323776"/>
                  </a:ext>
                </a:extLst>
              </a:tr>
              <a:tr h="413345">
                <a:tc>
                  <a:txBody>
                    <a:bodyPr/>
                    <a:lstStyle/>
                    <a:p>
                      <a:r>
                        <a:rPr lang="en-IN" dirty="0"/>
                        <a:t>Saturday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₹</a:t>
                      </a:r>
                      <a:r>
                        <a:rPr lang="en-IN" dirty="0" err="1"/>
                        <a:t>23.8M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7945"/>
                  </a:ext>
                </a:extLst>
              </a:tr>
              <a:tr h="413345">
                <a:tc>
                  <a:txBody>
                    <a:bodyPr/>
                    <a:lstStyle/>
                    <a:p>
                      <a:r>
                        <a:rPr lang="en-IN" dirty="0"/>
                        <a:t>Wednesday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₹</a:t>
                      </a:r>
                      <a:r>
                        <a:rPr lang="en-IN" dirty="0" err="1"/>
                        <a:t>23.7M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7117198"/>
                  </a:ext>
                </a:extLst>
              </a:tr>
              <a:tr h="413345">
                <a:tc>
                  <a:txBody>
                    <a:bodyPr/>
                    <a:lstStyle/>
                    <a:p>
                      <a:r>
                        <a:rPr lang="en-IN" dirty="0"/>
                        <a:t>Thursday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₹</a:t>
                      </a:r>
                      <a:r>
                        <a:rPr lang="en-IN" dirty="0" err="1"/>
                        <a:t>23.2M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665446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D201970-0149-37B1-A263-9F6481DC4336}"/>
              </a:ext>
            </a:extLst>
          </p:cNvPr>
          <p:cNvSpPr txBox="1"/>
          <p:nvPr/>
        </p:nvSpPr>
        <p:spPr>
          <a:xfrm>
            <a:off x="6096000" y="4980563"/>
            <a:ext cx="5967663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🔍 Key Insights</a:t>
            </a:r>
          </a:p>
          <a:p>
            <a:endParaRPr lang="en-US" sz="1600" b="1" dirty="0"/>
          </a:p>
          <a:p>
            <a:r>
              <a:rPr lang="en-US" sz="1400" dirty="0"/>
              <a:t>🏆 </a:t>
            </a:r>
            <a:r>
              <a:rPr lang="en-US" sz="1400" b="1" dirty="0"/>
              <a:t>Monday and Friday recorded the highest sales revenue</a:t>
            </a:r>
            <a:r>
              <a:rPr lang="en-US" sz="1400" dirty="0"/>
              <a:t>.</a:t>
            </a:r>
          </a:p>
          <a:p>
            <a:r>
              <a:rPr lang="en-US" sz="1400" dirty="0"/>
              <a:t>📉 </a:t>
            </a:r>
            <a:r>
              <a:rPr lang="en-US" sz="1400" b="1" dirty="0"/>
              <a:t>Thursday generated the lowest sales revenue</a:t>
            </a:r>
            <a:r>
              <a:rPr lang="en-US" sz="1400" dirty="0"/>
              <a:t>.</a:t>
            </a:r>
          </a:p>
          <a:p>
            <a:r>
              <a:rPr lang="en-US" sz="1400" dirty="0"/>
              <a:t>📊 Sales remained relatively stable throughout the week with only minor fluctuations.</a:t>
            </a:r>
          </a:p>
          <a:p>
            <a:r>
              <a:rPr lang="en-US" sz="1400" dirty="0"/>
              <a:t>🛍️ Customers tend to make more purchases at the beginning and end of the workweek.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3EC50A-EBCF-4B0E-98F4-9D277E5E83DA}"/>
              </a:ext>
            </a:extLst>
          </p:cNvPr>
          <p:cNvSpPr txBox="1"/>
          <p:nvPr/>
        </p:nvSpPr>
        <p:spPr>
          <a:xfrm>
            <a:off x="58820" y="5204337"/>
            <a:ext cx="5978358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💡 Business Recommendations</a:t>
            </a:r>
          </a:p>
          <a:p>
            <a:endParaRPr lang="en-US" sz="1600" b="1" dirty="0"/>
          </a:p>
          <a:p>
            <a:r>
              <a:rPr lang="en-US" sz="1400" dirty="0"/>
              <a:t>✅ Introduce targeted promotions and discounts on low-performing weekdays to boost sales.</a:t>
            </a:r>
          </a:p>
          <a:p>
            <a:r>
              <a:rPr lang="en-US" sz="1400" dirty="0"/>
              <a:t>✅ Schedule new product launches during high-performing days.</a:t>
            </a:r>
          </a:p>
          <a:p>
            <a:r>
              <a:rPr lang="en-US" sz="1400" dirty="0"/>
              <a:t>✅ Use weekday sales trends for inventory and staffing planning.</a:t>
            </a:r>
          </a:p>
          <a:p>
            <a:r>
              <a:rPr lang="en-US" sz="1400" dirty="0"/>
              <a:t>✅ Maintain high customer satisfaction through quality products and service.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16729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DA1C85-8745-4CB6-C2DD-0E3A57928277}"/>
              </a:ext>
            </a:extLst>
          </p:cNvPr>
          <p:cNvSpPr txBox="1"/>
          <p:nvPr/>
        </p:nvSpPr>
        <p:spPr>
          <a:xfrm>
            <a:off x="0" y="0"/>
            <a:ext cx="6096000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📈 Month-to-Date (</a:t>
            </a:r>
            <a:r>
              <a:rPr lang="en-US" sz="2000" b="1" dirty="0" err="1"/>
              <a:t>MTD</a:t>
            </a:r>
            <a:r>
              <a:rPr lang="en-US" sz="2000" b="1" dirty="0"/>
              <a:t>) Sales Analysis</a:t>
            </a:r>
          </a:p>
          <a:p>
            <a:endParaRPr lang="en-US" sz="1400" dirty="0"/>
          </a:p>
          <a:p>
            <a:r>
              <a:rPr lang="en-US" sz="1600" b="1" dirty="0"/>
              <a:t>📊 </a:t>
            </a:r>
            <a:r>
              <a:rPr lang="en-US" sz="1600" b="1" dirty="0" err="1"/>
              <a:t>MTD</a:t>
            </a:r>
            <a:r>
              <a:rPr lang="en-US" sz="1600" b="1" dirty="0"/>
              <a:t> Performance Analysis</a:t>
            </a:r>
          </a:p>
          <a:p>
            <a:endParaRPr lang="en-US" sz="1600" b="1" dirty="0"/>
          </a:p>
          <a:p>
            <a:r>
              <a:rPr lang="en-US" sz="1400" dirty="0"/>
              <a:t>The Month-to-Date (</a:t>
            </a:r>
            <a:r>
              <a:rPr lang="en-US" sz="1400" dirty="0" err="1"/>
              <a:t>MTD</a:t>
            </a:r>
            <a:r>
              <a:rPr lang="en-US" sz="1400" dirty="0"/>
              <a:t>) dashboard tracks cumulative sales growth throughout each month, helping monitor sales progress and identify performance trends over time.</a:t>
            </a:r>
          </a:p>
          <a:p>
            <a:endParaRPr lang="en-US" sz="1600" dirty="0"/>
          </a:p>
          <a:p>
            <a:r>
              <a:rPr lang="en-US" sz="1600" b="1" dirty="0"/>
              <a:t>🔍 Key Insights</a:t>
            </a:r>
          </a:p>
          <a:p>
            <a:r>
              <a:rPr lang="en-US" sz="1600" b="1" dirty="0"/>
              <a:t>🚀 Consistent Monthly Growth</a:t>
            </a:r>
          </a:p>
          <a:p>
            <a:r>
              <a:rPr lang="en-US" sz="1400" dirty="0"/>
              <a:t>Sales show a steady upward trend throughout each month. </a:t>
            </a:r>
          </a:p>
          <a:p>
            <a:r>
              <a:rPr lang="en-US" sz="1400" dirty="0"/>
              <a:t>Revenue accumulates progressively from the beginning to the end of the month. </a:t>
            </a:r>
          </a:p>
          <a:p>
            <a:endParaRPr lang="en-US" sz="1400" dirty="0"/>
          </a:p>
          <a:p>
            <a:r>
              <a:rPr lang="en-US" sz="1600" b="1" dirty="0"/>
              <a:t>🏆 Highest </a:t>
            </a:r>
            <a:r>
              <a:rPr lang="en-US" sz="1600" b="1" dirty="0" err="1"/>
              <a:t>MTD</a:t>
            </a:r>
            <a:r>
              <a:rPr lang="en-US" sz="1600" b="1" dirty="0"/>
              <a:t> Performance</a:t>
            </a:r>
          </a:p>
          <a:p>
            <a:r>
              <a:rPr lang="en-US" sz="1400" dirty="0"/>
              <a:t>July recorded one of the highest </a:t>
            </a:r>
            <a:r>
              <a:rPr lang="en-US" sz="1400" dirty="0" err="1"/>
              <a:t>MTD</a:t>
            </a:r>
            <a:r>
              <a:rPr lang="en-US" sz="1400" dirty="0"/>
              <a:t> values at approximately </a:t>
            </a:r>
            <a:r>
              <a:rPr lang="en-US" sz="1400" b="1" dirty="0"/>
              <a:t>₹</a:t>
            </a:r>
            <a:r>
              <a:rPr lang="en-US" sz="1400" b="1" dirty="0" err="1"/>
              <a:t>24.5M</a:t>
            </a:r>
            <a:r>
              <a:rPr lang="en-US" sz="1400" dirty="0"/>
              <a:t>. </a:t>
            </a:r>
          </a:p>
          <a:p>
            <a:r>
              <a:rPr lang="en-US" sz="1400" dirty="0"/>
              <a:t>June and January also demonstrated strong </a:t>
            </a:r>
            <a:r>
              <a:rPr lang="en-US" sz="1400" dirty="0" err="1"/>
              <a:t>MTD</a:t>
            </a:r>
            <a:r>
              <a:rPr lang="en-US" sz="1400" dirty="0"/>
              <a:t> growth. </a:t>
            </a:r>
          </a:p>
          <a:p>
            <a:endParaRPr lang="en-US" sz="1400" dirty="0"/>
          </a:p>
          <a:p>
            <a:r>
              <a:rPr lang="en-US" sz="1600" b="1" dirty="0"/>
              <a:t>📈 Strong Sales Momentum</a:t>
            </a:r>
          </a:p>
          <a:p>
            <a:r>
              <a:rPr lang="en-US" sz="1400" dirty="0"/>
              <a:t>Most months crossed the </a:t>
            </a:r>
            <a:r>
              <a:rPr lang="en-US" sz="1400" b="1" dirty="0"/>
              <a:t>₹</a:t>
            </a:r>
            <a:r>
              <a:rPr lang="en-US" sz="1400" b="1" dirty="0" err="1"/>
              <a:t>20M</a:t>
            </a:r>
            <a:r>
              <a:rPr lang="en-US" sz="1400" b="1" dirty="0"/>
              <a:t> sales mark</a:t>
            </a:r>
            <a:r>
              <a:rPr lang="en-US" sz="1400" dirty="0"/>
              <a:t> before month-end. </a:t>
            </a:r>
          </a:p>
          <a:p>
            <a:r>
              <a:rPr lang="en-US" sz="1400" dirty="0"/>
              <a:t>Indicates stable customer demand and effective sales performance. </a:t>
            </a:r>
          </a:p>
          <a:p>
            <a:endParaRPr lang="en-US" sz="1400" dirty="0"/>
          </a:p>
          <a:p>
            <a:r>
              <a:rPr lang="en-US" sz="1600" b="1" dirty="0"/>
              <a:t>⚡ Predictable Growth Pattern</a:t>
            </a:r>
          </a:p>
          <a:p>
            <a:r>
              <a:rPr lang="en-US" sz="1400" dirty="0"/>
              <a:t>Similar growth patterns are observed across multiple months. </a:t>
            </a:r>
          </a:p>
          <a:p>
            <a:r>
              <a:rPr lang="en-US" sz="1400" dirty="0"/>
              <a:t>Suggests a stable and consistent sales cycle.</a:t>
            </a:r>
          </a:p>
          <a:p>
            <a:endParaRPr lang="en-IN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AAD591-E346-5C55-476E-C2C2919879FA}"/>
              </a:ext>
            </a:extLst>
          </p:cNvPr>
          <p:cNvSpPr txBox="1"/>
          <p:nvPr/>
        </p:nvSpPr>
        <p:spPr>
          <a:xfrm>
            <a:off x="6096000" y="72661"/>
            <a:ext cx="44276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📉 Monthly </a:t>
            </a:r>
            <a:r>
              <a:rPr lang="en-IN" sz="2000" b="1" dirty="0" err="1"/>
              <a:t>MTD</a:t>
            </a:r>
            <a:r>
              <a:rPr lang="en-IN" sz="2000" b="1" dirty="0"/>
              <a:t> Highlights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1B9D2E5-BD8E-485F-DB03-371822B318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8893606"/>
              </p:ext>
            </p:extLst>
          </p:nvPr>
        </p:nvGraphicFramePr>
        <p:xfrm>
          <a:off x="6096000" y="545432"/>
          <a:ext cx="5058612" cy="25958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529306">
                  <a:extLst>
                    <a:ext uri="{9D8B030D-6E8A-4147-A177-3AD203B41FA5}">
                      <a16:colId xmlns:a16="http://schemas.microsoft.com/office/drawing/2014/main" val="1655707297"/>
                    </a:ext>
                  </a:extLst>
                </a:gridCol>
                <a:gridCol w="2529306">
                  <a:extLst>
                    <a:ext uri="{9D8B030D-6E8A-4147-A177-3AD203B41FA5}">
                      <a16:colId xmlns:a16="http://schemas.microsoft.com/office/drawing/2014/main" val="18709215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Peak </a:t>
                      </a:r>
                      <a:r>
                        <a:rPr lang="en-IN" dirty="0" err="1"/>
                        <a:t>MTD</a:t>
                      </a:r>
                      <a:r>
                        <a:rPr lang="en-IN" dirty="0"/>
                        <a:t> Sales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248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January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₹</a:t>
                      </a:r>
                      <a:r>
                        <a:rPr lang="en-IN" dirty="0" err="1"/>
                        <a:t>23.6M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0437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₹</a:t>
                      </a:r>
                      <a:r>
                        <a:rPr lang="en-IN" dirty="0" err="1"/>
                        <a:t>21.4M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6321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June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₹</a:t>
                      </a:r>
                      <a:r>
                        <a:rPr lang="en-IN" dirty="0" err="1"/>
                        <a:t>24.2M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8907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July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₹</a:t>
                      </a:r>
                      <a:r>
                        <a:rPr lang="en-IN" dirty="0" err="1"/>
                        <a:t>24.5M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5173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November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₹</a:t>
                      </a:r>
                      <a:r>
                        <a:rPr lang="en-IN" dirty="0" err="1"/>
                        <a:t>22.1M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0283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December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₹</a:t>
                      </a:r>
                      <a:r>
                        <a:rPr lang="en-IN" dirty="0" err="1"/>
                        <a:t>21.1M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59118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22CFA72-A3A7-08BF-7527-A2E17598BD09}"/>
              </a:ext>
            </a:extLst>
          </p:cNvPr>
          <p:cNvSpPr txBox="1"/>
          <p:nvPr/>
        </p:nvSpPr>
        <p:spPr>
          <a:xfrm>
            <a:off x="5970338" y="3213973"/>
            <a:ext cx="6096000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💡 Business Recommendations</a:t>
            </a:r>
          </a:p>
          <a:p>
            <a:endParaRPr lang="en-US" sz="1600" b="1" dirty="0"/>
          </a:p>
          <a:p>
            <a:r>
              <a:rPr lang="en-US" sz="1400" dirty="0"/>
              <a:t>✅ Monitor </a:t>
            </a:r>
            <a:r>
              <a:rPr lang="en-US" sz="1400" dirty="0" err="1"/>
              <a:t>MTD</a:t>
            </a:r>
            <a:r>
              <a:rPr lang="en-US" sz="1400" dirty="0"/>
              <a:t> performance regularly to identify sales trends early.</a:t>
            </a:r>
          </a:p>
          <a:p>
            <a:r>
              <a:rPr lang="en-US" sz="1400" dirty="0"/>
              <a:t>✅ Replicate strategies used during high-performing months such as June and July.</a:t>
            </a:r>
          </a:p>
          <a:p>
            <a:r>
              <a:rPr lang="en-US" sz="1400" dirty="0"/>
              <a:t>✅ Introduce targeted promotions during slower months to accelerate sales growth.</a:t>
            </a:r>
          </a:p>
          <a:p>
            <a:r>
              <a:rPr lang="en-US" sz="1400" dirty="0"/>
              <a:t>✅ Use </a:t>
            </a:r>
            <a:r>
              <a:rPr lang="en-US" sz="1400" dirty="0" err="1"/>
              <a:t>MTD</a:t>
            </a:r>
            <a:r>
              <a:rPr lang="en-US" sz="1400" dirty="0"/>
              <a:t> tracking for inventory planning and sales forecasting.</a:t>
            </a:r>
          </a:p>
          <a:p>
            <a:endParaRPr lang="en-US" sz="1600" dirty="0"/>
          </a:p>
          <a:p>
            <a:r>
              <a:rPr lang="en-US" sz="1600" b="1" dirty="0"/>
              <a:t>📌 Conclusion</a:t>
            </a:r>
          </a:p>
          <a:p>
            <a:endParaRPr lang="en-US" sz="1600" b="1" dirty="0"/>
          </a:p>
          <a:p>
            <a:r>
              <a:rPr lang="en-US" sz="1600" dirty="0"/>
              <a:t>The </a:t>
            </a:r>
            <a:r>
              <a:rPr lang="en-US" sz="1600" dirty="0" err="1"/>
              <a:t>MTD</a:t>
            </a:r>
            <a:r>
              <a:rPr lang="en-US" sz="1600" dirty="0"/>
              <a:t> analysis demonstrates consistent sales growth throughout the year, with several months exceeding ₹</a:t>
            </a:r>
            <a:r>
              <a:rPr lang="en-US" sz="1600" dirty="0" err="1"/>
              <a:t>20M</a:t>
            </a:r>
            <a:r>
              <a:rPr lang="en-US" sz="1600" dirty="0"/>
              <a:t> in cumulative sales. These trends highlight strong market demand and support effective forecasting, inventory planning, and business decision-making.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A478BD-B78E-8252-2732-1449E2BEAF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98695"/>
            <a:ext cx="5970338" cy="1259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336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4E5A81-E1D4-E264-51E9-B58E55C96AC8}"/>
              </a:ext>
            </a:extLst>
          </p:cNvPr>
          <p:cNvSpPr txBox="1"/>
          <p:nvPr/>
        </p:nvSpPr>
        <p:spPr>
          <a:xfrm>
            <a:off x="0" y="0"/>
            <a:ext cx="6096000" cy="7048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📊 Same Period Last Year (</a:t>
            </a:r>
            <a:r>
              <a:rPr lang="en-US" sz="2000" b="1" dirty="0" err="1"/>
              <a:t>SPLY</a:t>
            </a:r>
            <a:r>
              <a:rPr lang="en-US" sz="2000" b="1" dirty="0"/>
              <a:t>) Analysis</a:t>
            </a:r>
            <a:endParaRPr lang="en-US" sz="2000" dirty="0"/>
          </a:p>
          <a:p>
            <a:r>
              <a:rPr lang="en-US" sz="1600" b="1" dirty="0"/>
              <a:t>📈 </a:t>
            </a:r>
            <a:r>
              <a:rPr lang="en-US" sz="1600" b="1" dirty="0" err="1"/>
              <a:t>SPLY</a:t>
            </a:r>
            <a:r>
              <a:rPr lang="en-US" sz="1600" b="1" dirty="0"/>
              <a:t> Performance Analysis</a:t>
            </a:r>
          </a:p>
          <a:p>
            <a:r>
              <a:rPr lang="en-US" sz="1400" dirty="0"/>
              <a:t>The Same Period Last Year (</a:t>
            </a:r>
            <a:r>
              <a:rPr lang="en-US" sz="1400" dirty="0" err="1"/>
              <a:t>SPLY</a:t>
            </a:r>
            <a:r>
              <a:rPr lang="en-US" sz="1400" dirty="0"/>
              <a:t>) analysis compares current sales performance with the corresponding period in the previous year to evaluate business growth trends and identify areas for improvement.</a:t>
            </a:r>
          </a:p>
          <a:p>
            <a:endParaRPr lang="en-US" sz="1400" dirty="0"/>
          </a:p>
          <a:p>
            <a:r>
              <a:rPr lang="en-US" sz="1600" b="1" dirty="0"/>
              <a:t>🔍 Key Insights</a:t>
            </a:r>
          </a:p>
          <a:p>
            <a:endParaRPr lang="en-US" sz="1600" b="1" dirty="0"/>
          </a:p>
          <a:p>
            <a:r>
              <a:rPr lang="en-US" sz="1600" b="1" dirty="0"/>
              <a:t>📅 Year-wise Comparison</a:t>
            </a:r>
          </a:p>
          <a:p>
            <a:r>
              <a:rPr lang="en-US" sz="1400" dirty="0"/>
              <a:t>🏆 </a:t>
            </a:r>
            <a:r>
              <a:rPr lang="en-US" sz="1400" b="1" dirty="0"/>
              <a:t>2022 recorded significant growth compared to 2021</a:t>
            </a:r>
            <a:r>
              <a:rPr lang="en-US" sz="1400" dirty="0"/>
              <a:t>, reflecting strong business expansion.</a:t>
            </a:r>
          </a:p>
          <a:p>
            <a:r>
              <a:rPr lang="en-US" sz="1400" dirty="0"/>
              <a:t>📊 </a:t>
            </a:r>
            <a:r>
              <a:rPr lang="en-US" sz="1400" b="1" dirty="0"/>
              <a:t>2023 maintained a stable sales performance</a:t>
            </a:r>
            <a:r>
              <a:rPr lang="en-US" sz="1400" dirty="0"/>
              <a:t>, with sales levels remaining comparable to the previous year.</a:t>
            </a:r>
          </a:p>
          <a:p>
            <a:r>
              <a:rPr lang="en-US" sz="1400" dirty="0"/>
              <a:t>📉 </a:t>
            </a:r>
            <a:r>
              <a:rPr lang="en-US" sz="1400" b="1" dirty="0"/>
              <a:t>2024 sales declined compared to </a:t>
            </a:r>
            <a:r>
              <a:rPr lang="en-US" sz="1400" b="1" dirty="0" err="1"/>
              <a:t>SPLY</a:t>
            </a:r>
            <a:r>
              <a:rPr lang="en-US" sz="1400" dirty="0"/>
              <a:t>, indicating potential challenges in maintaining previous growth levels.</a:t>
            </a:r>
          </a:p>
          <a:p>
            <a:endParaRPr lang="en-US" sz="1400" dirty="0"/>
          </a:p>
          <a:p>
            <a:r>
              <a:rPr lang="en-US" sz="1600" b="1" dirty="0"/>
              <a:t>📆 Quarter-wise Comparison</a:t>
            </a:r>
          </a:p>
          <a:p>
            <a:r>
              <a:rPr lang="en-US" sz="1400" dirty="0"/>
              <a:t>🚀 </a:t>
            </a:r>
            <a:r>
              <a:rPr lang="en-US" sz="1400" b="1" dirty="0" err="1"/>
              <a:t>Q4</a:t>
            </a:r>
            <a:r>
              <a:rPr lang="en-US" sz="1400" b="1" dirty="0"/>
              <a:t> delivered the strongest sales performance</a:t>
            </a:r>
            <a:r>
              <a:rPr lang="en-US" sz="1400" dirty="0"/>
              <a:t>, contributing the highest revenue among all quarters.</a:t>
            </a:r>
          </a:p>
          <a:p>
            <a:r>
              <a:rPr lang="en-US" sz="1400" dirty="0"/>
              <a:t>📈 Sales remained relatively consistent across all quarters, indicating stable business operations.</a:t>
            </a:r>
          </a:p>
          <a:p>
            <a:r>
              <a:rPr lang="en-US" sz="1400" dirty="0"/>
              <a:t>⚖️ Quarterly revenue distribution shows balanced performance throughout the year.</a:t>
            </a:r>
          </a:p>
          <a:p>
            <a:endParaRPr lang="en-US" sz="1400" dirty="0"/>
          </a:p>
          <a:p>
            <a:r>
              <a:rPr lang="en-US" sz="1600" b="1" dirty="0"/>
              <a:t>📊 Month-wise Comparison</a:t>
            </a:r>
          </a:p>
          <a:p>
            <a:r>
              <a:rPr lang="en-US" sz="1400" dirty="0"/>
              <a:t>📈 Current sales outperformed </a:t>
            </a:r>
            <a:r>
              <a:rPr lang="en-US" sz="1400" dirty="0" err="1"/>
              <a:t>SPLY</a:t>
            </a:r>
            <a:r>
              <a:rPr lang="en-US" sz="1400" dirty="0"/>
              <a:t> in several months, demonstrating positive growth.</a:t>
            </a:r>
          </a:p>
          <a:p>
            <a:r>
              <a:rPr lang="en-US" sz="1400" dirty="0"/>
              <a:t>🏆 January, March, May, and July emerged as strong-performing months.</a:t>
            </a:r>
          </a:p>
          <a:p>
            <a:r>
              <a:rPr lang="en-US" sz="1400" dirty="0"/>
              <a:t>📉 Some months showed lower performance than the previous year, highlighting opportunities for improvement.</a:t>
            </a:r>
          </a:p>
          <a:p>
            <a:endParaRPr lang="en-IN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449EDF-909E-35BB-4B0B-F8C2CBD6F1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134104"/>
            <a:ext cx="5903495" cy="15342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C9C7350-F4AF-7836-B71C-1CE73C9E8E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1594" y="1802484"/>
            <a:ext cx="5937900" cy="16265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8971532-C2A2-FFFC-8381-E3F6F885AD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1594" y="3563104"/>
            <a:ext cx="5937900" cy="16265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F9BECB9-A7D7-4B6F-BACE-C1B559C3F27F}"/>
              </a:ext>
            </a:extLst>
          </p:cNvPr>
          <p:cNvSpPr txBox="1"/>
          <p:nvPr/>
        </p:nvSpPr>
        <p:spPr>
          <a:xfrm>
            <a:off x="6095999" y="5226784"/>
            <a:ext cx="579546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💡 Business Recommendations</a:t>
            </a:r>
          </a:p>
          <a:p>
            <a:endParaRPr lang="en-US" sz="1400" dirty="0"/>
          </a:p>
          <a:p>
            <a:r>
              <a:rPr lang="en-US" sz="1400" dirty="0"/>
              <a:t>✅ Identify root causes behind underperforming months and implement targeted improvement strategies.</a:t>
            </a:r>
          </a:p>
          <a:p>
            <a:r>
              <a:rPr lang="en-US" sz="1400" dirty="0"/>
              <a:t>✅ Replicate strategies from high-growth periods.</a:t>
            </a:r>
          </a:p>
          <a:p>
            <a:r>
              <a:rPr lang="en-US" sz="1400" dirty="0"/>
              <a:t>✅ Strengthen promotional activities during weaker quarters.</a:t>
            </a:r>
          </a:p>
          <a:p>
            <a:r>
              <a:rPr lang="en-US" sz="1400" dirty="0"/>
              <a:t>✅ Use </a:t>
            </a:r>
            <a:r>
              <a:rPr lang="en-US" sz="1400" dirty="0" err="1"/>
              <a:t>SPLY</a:t>
            </a:r>
            <a:r>
              <a:rPr lang="en-US" sz="1400" dirty="0"/>
              <a:t> trends for forecasting and planning.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245036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D5434F-C019-6820-D98E-DA05DF5B8CFA}"/>
              </a:ext>
            </a:extLst>
          </p:cNvPr>
          <p:cNvSpPr txBox="1"/>
          <p:nvPr/>
        </p:nvSpPr>
        <p:spPr>
          <a:xfrm>
            <a:off x="0" y="0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🎯 Key Findings &amp; Business Recommendations</a:t>
            </a:r>
            <a:endParaRPr lang="en-IN" sz="2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78A86C-91A3-C56C-C2C6-57BE96A4980E}"/>
              </a:ext>
            </a:extLst>
          </p:cNvPr>
          <p:cNvSpPr txBox="1"/>
          <p:nvPr/>
        </p:nvSpPr>
        <p:spPr>
          <a:xfrm>
            <a:off x="0" y="400110"/>
            <a:ext cx="6096000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🔍 Key Findings</a:t>
            </a:r>
          </a:p>
          <a:p>
            <a:endParaRPr lang="en-US" sz="1400" b="1" dirty="0"/>
          </a:p>
          <a:p>
            <a:r>
              <a:rPr lang="en-US" sz="1400" dirty="0"/>
              <a:t>💰 Generated </a:t>
            </a:r>
            <a:r>
              <a:rPr lang="en-US" sz="1400" b="1" dirty="0"/>
              <a:t>₹</a:t>
            </a:r>
            <a:r>
              <a:rPr lang="en-US" sz="1400" b="1" dirty="0" err="1"/>
              <a:t>769M</a:t>
            </a:r>
            <a:r>
              <a:rPr lang="en-US" sz="1400" dirty="0"/>
              <a:t> in total sales revenue.</a:t>
            </a:r>
          </a:p>
          <a:p>
            <a:endParaRPr lang="en-US" sz="1400" dirty="0"/>
          </a:p>
          <a:p>
            <a:r>
              <a:rPr lang="en-US" sz="1400" dirty="0"/>
              <a:t>📦 Sold over </a:t>
            </a:r>
            <a:r>
              <a:rPr lang="en-US" sz="1400" b="1" dirty="0" err="1"/>
              <a:t>19K</a:t>
            </a:r>
            <a:r>
              <a:rPr lang="en-US" sz="1400" b="1" dirty="0"/>
              <a:t> mobile units</a:t>
            </a:r>
            <a:r>
              <a:rPr lang="en-US" sz="1400" dirty="0"/>
              <a:t> through approximately </a:t>
            </a:r>
            <a:r>
              <a:rPr lang="en-US" sz="1400" b="1" dirty="0" err="1"/>
              <a:t>4K</a:t>
            </a:r>
            <a:r>
              <a:rPr lang="en-US" sz="1400" b="1" dirty="0"/>
              <a:t> transactions</a:t>
            </a:r>
            <a:r>
              <a:rPr lang="en-US" sz="1400" dirty="0"/>
              <a:t>.</a:t>
            </a:r>
          </a:p>
          <a:p>
            <a:endParaRPr lang="en-US" sz="1400" dirty="0"/>
          </a:p>
          <a:p>
            <a:r>
              <a:rPr lang="en-US" sz="1400" dirty="0"/>
              <a:t>📈 </a:t>
            </a:r>
            <a:r>
              <a:rPr lang="en-US" sz="1400" b="1" dirty="0"/>
              <a:t>July</a:t>
            </a:r>
            <a:r>
              <a:rPr lang="en-US" sz="1400" dirty="0"/>
              <a:t> emerged as the highest-performing month, while </a:t>
            </a:r>
            <a:r>
              <a:rPr lang="en-US" sz="1400" b="1" dirty="0"/>
              <a:t>February</a:t>
            </a:r>
            <a:r>
              <a:rPr lang="en-US" sz="1400" dirty="0"/>
              <a:t> recorded the lowest sales volume.</a:t>
            </a:r>
          </a:p>
          <a:p>
            <a:endParaRPr lang="en-US" sz="1400" dirty="0"/>
          </a:p>
          <a:p>
            <a:r>
              <a:rPr lang="en-US" sz="1400" dirty="0"/>
              <a:t>🏙️ </a:t>
            </a:r>
            <a:r>
              <a:rPr lang="en-US" sz="1400" b="1" dirty="0"/>
              <a:t>Delhi, Mumbai, Bangalore, Hyderabad, and Lucknow</a:t>
            </a:r>
            <a:r>
              <a:rPr lang="en-US" sz="1400" dirty="0"/>
              <a:t> were the top revenue-contributing cities.</a:t>
            </a:r>
          </a:p>
          <a:p>
            <a:endParaRPr lang="en-US" sz="1400" dirty="0"/>
          </a:p>
          <a:p>
            <a:r>
              <a:rPr lang="en-US" sz="1400" dirty="0"/>
              <a:t>🏷️ </a:t>
            </a:r>
            <a:r>
              <a:rPr lang="en-US" sz="1400" b="1" dirty="0"/>
              <a:t>Apple</a:t>
            </a:r>
            <a:r>
              <a:rPr lang="en-US" sz="1400" dirty="0"/>
              <a:t> generated the highest brand revenue, followed closely by Samsung.</a:t>
            </a:r>
          </a:p>
          <a:p>
            <a:endParaRPr lang="en-US" sz="1400" dirty="0"/>
          </a:p>
          <a:p>
            <a:r>
              <a:rPr lang="en-US" sz="1400" dirty="0"/>
              <a:t>📱 </a:t>
            </a:r>
            <a:r>
              <a:rPr lang="en-US" sz="1400" b="1" dirty="0"/>
              <a:t>iPhone SE, OnePlus Nord, and Galaxy Note 20</a:t>
            </a:r>
            <a:r>
              <a:rPr lang="en-US" sz="1400" dirty="0"/>
              <a:t> were the top-performing mobile models.</a:t>
            </a:r>
          </a:p>
          <a:p>
            <a:endParaRPr lang="en-US" sz="1400" dirty="0"/>
          </a:p>
          <a:p>
            <a:r>
              <a:rPr lang="en-US" sz="1400" dirty="0"/>
              <a:t>💳 </a:t>
            </a:r>
            <a:r>
              <a:rPr lang="en-US" sz="1400" b="1" dirty="0"/>
              <a:t>UPI</a:t>
            </a:r>
            <a:r>
              <a:rPr lang="en-US" sz="1400" dirty="0"/>
              <a:t> emerged as the most preferred payment method, highlighting the growing adoption of digital payments.</a:t>
            </a:r>
          </a:p>
          <a:p>
            <a:endParaRPr lang="en-US" sz="1400" dirty="0"/>
          </a:p>
          <a:p>
            <a:r>
              <a:rPr lang="en-US" sz="1400" dirty="0"/>
              <a:t>⭐ Customer ratings indicated a high level of overall customer satisfaction.</a:t>
            </a:r>
          </a:p>
          <a:p>
            <a:endParaRPr lang="en-IN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34AA6D-64A0-1E72-42D8-C8B557F71874}"/>
              </a:ext>
            </a:extLst>
          </p:cNvPr>
          <p:cNvSpPr txBox="1"/>
          <p:nvPr/>
        </p:nvSpPr>
        <p:spPr>
          <a:xfrm>
            <a:off x="6248400" y="400110"/>
            <a:ext cx="5791200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💡 Business Recommendations</a:t>
            </a:r>
          </a:p>
          <a:p>
            <a:endParaRPr lang="en-US" sz="1400" b="1" dirty="0"/>
          </a:p>
          <a:p>
            <a:r>
              <a:rPr lang="en-US" sz="1400" dirty="0"/>
              <a:t>📦 Maintain adequate inventory levels for top-selling brands and mobile models.</a:t>
            </a:r>
          </a:p>
          <a:p>
            <a:endParaRPr lang="en-US" sz="1400" dirty="0"/>
          </a:p>
          <a:p>
            <a:r>
              <a:rPr lang="en-US" sz="1400" dirty="0"/>
              <a:t>🏙️ Increase marketing efforts in high-performing metropolitan cities.</a:t>
            </a:r>
          </a:p>
          <a:p>
            <a:endParaRPr lang="en-US" sz="1400" dirty="0"/>
          </a:p>
          <a:p>
            <a:r>
              <a:rPr lang="en-US" sz="1400" dirty="0"/>
              <a:t>💳 Expand digital payment incentives such as cashback and promotional offers.</a:t>
            </a:r>
          </a:p>
          <a:p>
            <a:endParaRPr lang="en-US" sz="1400" dirty="0"/>
          </a:p>
          <a:p>
            <a:r>
              <a:rPr lang="en-US" sz="1400" dirty="0"/>
              <a:t>📅 Launch targeted campaigns during low-performing months and weekdays to boost sales.</a:t>
            </a:r>
          </a:p>
          <a:p>
            <a:endParaRPr lang="en-US" sz="1400" dirty="0"/>
          </a:p>
          <a:p>
            <a:r>
              <a:rPr lang="en-US" sz="1400" dirty="0"/>
              <a:t>📊 Leverage </a:t>
            </a:r>
            <a:r>
              <a:rPr lang="en-US" sz="1400" dirty="0" err="1"/>
              <a:t>MTD</a:t>
            </a:r>
            <a:r>
              <a:rPr lang="en-US" sz="1400" dirty="0"/>
              <a:t> and </a:t>
            </a:r>
            <a:r>
              <a:rPr lang="en-US" sz="1400" dirty="0" err="1"/>
              <a:t>SPLY</a:t>
            </a:r>
            <a:r>
              <a:rPr lang="en-US" sz="1400" dirty="0"/>
              <a:t> insights for sales forecasting, inventory planning, and strategic decision-making.</a:t>
            </a:r>
          </a:p>
          <a:p>
            <a:endParaRPr lang="en-US" sz="1400" dirty="0"/>
          </a:p>
          <a:p>
            <a:r>
              <a:rPr lang="en-US" sz="1400" dirty="0"/>
              <a:t>📈 Replicate successful strategies from peak-performing periods to sustain business growth.</a:t>
            </a:r>
          </a:p>
          <a:p>
            <a:endParaRPr lang="en-IN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B2D393-FDC3-4E53-CAE5-541E650F6211}"/>
              </a:ext>
            </a:extLst>
          </p:cNvPr>
          <p:cNvSpPr txBox="1"/>
          <p:nvPr/>
        </p:nvSpPr>
        <p:spPr>
          <a:xfrm>
            <a:off x="0" y="5262980"/>
            <a:ext cx="12192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📌 Final Conclusion</a:t>
            </a:r>
          </a:p>
          <a:p>
            <a:endParaRPr lang="en-US" sz="1600" b="1" dirty="0"/>
          </a:p>
          <a:p>
            <a:r>
              <a:rPr lang="en-US" sz="1400" dirty="0"/>
              <a:t>The Mobile Sales Analysis Dashboard successfully transformed raw sales data into actionable insights, enabling better decision-making related to sales performance, customer preferences, product demand, inventory planning, and business growth. Through interactive visualizations and </a:t>
            </a:r>
            <a:r>
              <a:rPr lang="en-US" sz="1400" dirty="0" err="1"/>
              <a:t>KPI</a:t>
            </a:r>
            <a:r>
              <a:rPr lang="en-US" sz="1400" dirty="0"/>
              <a:t> monitoring, the dashboard provides a comprehensive view of business performance and supports data-driven strategies.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904494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7CC5B2-6EE2-1810-138D-708C4D7B0E92}"/>
              </a:ext>
            </a:extLst>
          </p:cNvPr>
          <p:cNvSpPr txBox="1"/>
          <p:nvPr/>
        </p:nvSpPr>
        <p:spPr>
          <a:xfrm>
            <a:off x="0" y="2288495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/>
              <a:t>🙏 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6B952B-31E3-8865-B781-0973BE3DA67B}"/>
              </a:ext>
            </a:extLst>
          </p:cNvPr>
          <p:cNvSpPr txBox="1"/>
          <p:nvPr/>
        </p:nvSpPr>
        <p:spPr>
          <a:xfrm>
            <a:off x="2727157" y="3429000"/>
            <a:ext cx="673768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Questions and Answers </a:t>
            </a:r>
          </a:p>
          <a:p>
            <a:pPr algn="ctr"/>
            <a:r>
              <a:rPr lang="en-US" b="1" dirty="0"/>
              <a:t>Presented By : </a:t>
            </a:r>
          </a:p>
          <a:p>
            <a:pPr algn="ctr"/>
            <a:br>
              <a:rPr lang="en-US" dirty="0"/>
            </a:br>
            <a:r>
              <a:rPr lang="en-US" b="1" dirty="0"/>
              <a:t>Abhishek Savita</a:t>
            </a:r>
            <a:endParaRPr lang="en-US" dirty="0"/>
          </a:p>
          <a:p>
            <a:pPr algn="ctr"/>
            <a:r>
              <a:rPr lang="en-US" b="1" dirty="0" err="1"/>
              <a:t>B.Tech</a:t>
            </a:r>
            <a:r>
              <a:rPr lang="en-US" b="1" dirty="0"/>
              <a:t> – Computer Science &amp; Engineering</a:t>
            </a:r>
          </a:p>
          <a:p>
            <a:pPr algn="ctr"/>
            <a:endParaRPr lang="en-US" b="1" dirty="0"/>
          </a:p>
          <a:p>
            <a:pPr algn="ctr"/>
            <a:r>
              <a:rPr lang="en-IN" dirty="0"/>
              <a:t>📧</a:t>
            </a:r>
            <a:r>
              <a:rPr lang="en-IN" dirty="0" err="1">
                <a:solidFill>
                  <a:schemeClr val="tx1">
                    <a:lumMod val="95000"/>
                    <a:lumOff val="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asavita3012@gmail.com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r>
              <a:rPr lang="en-IN" dirty="0"/>
              <a:t>💼 </a:t>
            </a:r>
            <a:r>
              <a:rPr lang="en-IN" b="1" dirty="0"/>
              <a:t>LinkedIn: </a:t>
            </a:r>
            <a:r>
              <a:rPr lang="en-IN" dirty="0" err="1">
                <a:solidFill>
                  <a:schemeClr val="tx1">
                    <a:lumMod val="95000"/>
                    <a:lumOff val="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/in/</a:t>
            </a:r>
            <a:r>
              <a:rPr lang="en-IN" dirty="0" err="1">
                <a:solidFill>
                  <a:schemeClr val="tx1">
                    <a:lumMod val="95000"/>
                    <a:lumOff val="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abhishek-savita-b41961276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r>
              <a:rPr lang="en-IN" dirty="0"/>
              <a:t>🐙 </a:t>
            </a:r>
            <a:r>
              <a:rPr lang="en-IN" b="1" dirty="0"/>
              <a:t>GitHub: </a:t>
            </a:r>
            <a:r>
              <a:rPr lang="en-IN" dirty="0" err="1">
                <a:solidFill>
                  <a:schemeClr val="tx1">
                    <a:lumMod val="95000"/>
                    <a:lumOff val="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/Abhishek-Savita-3012</a:t>
            </a:r>
            <a:br>
              <a:rPr lang="en-IN" dirty="0"/>
            </a:br>
            <a:endParaRPr lang="en-US" dirty="0"/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2149007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161</TotalTime>
  <Words>2362</Words>
  <Application>Microsoft Office PowerPoint</Application>
  <PresentationFormat>Widescreen</PresentationFormat>
  <Paragraphs>380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Gill Sans MT</vt:lpstr>
      <vt:lpstr>Parcel</vt:lpstr>
      <vt:lpstr>📱 Mobile Sales Dashboard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Abhishek Savita</dc:creator>
  <cp:lastModifiedBy>Abhishek Savita</cp:lastModifiedBy>
  <cp:revision>2</cp:revision>
  <dcterms:created xsi:type="dcterms:W3CDTF">2026-05-30T15:14:14Z</dcterms:created>
  <dcterms:modified xsi:type="dcterms:W3CDTF">2026-05-30T17:57:46Z</dcterms:modified>
</cp:coreProperties>
</file>